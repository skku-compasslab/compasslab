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16" r:id="rId2"/>
    <p:sldId id="303" r:id="rId3"/>
    <p:sldId id="319" r:id="rId4"/>
    <p:sldId id="317" r:id="rId5"/>
    <p:sldId id="340" r:id="rId6"/>
    <p:sldId id="318" r:id="rId7"/>
    <p:sldId id="320" r:id="rId8"/>
    <p:sldId id="325" r:id="rId9"/>
    <p:sldId id="322" r:id="rId10"/>
    <p:sldId id="341" r:id="rId11"/>
    <p:sldId id="342" r:id="rId12"/>
    <p:sldId id="324" r:id="rId13"/>
    <p:sldId id="334" r:id="rId14"/>
    <p:sldId id="338" r:id="rId15"/>
    <p:sldId id="335" r:id="rId16"/>
    <p:sldId id="323" r:id="rId17"/>
    <p:sldId id="326" r:id="rId18"/>
    <p:sldId id="336" r:id="rId19"/>
    <p:sldId id="337" r:id="rId20"/>
    <p:sldId id="327" r:id="rId21"/>
    <p:sldId id="328" r:id="rId22"/>
    <p:sldId id="329" r:id="rId23"/>
    <p:sldId id="330" r:id="rId24"/>
    <p:sldId id="331" r:id="rId25"/>
    <p:sldId id="332" r:id="rId26"/>
    <p:sldId id="339" r:id="rId27"/>
  </p:sldIdLst>
  <p:sldSz cx="9144000" cy="6858000" type="letter"/>
  <p:notesSz cx="672941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sz="2400" b="1" kern="1200">
        <a:solidFill>
          <a:schemeClr val="tx2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1" hangingPunct="1">
      <a:defRPr sz="2400" b="1" kern="1200">
        <a:solidFill>
          <a:schemeClr val="tx2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1" hangingPunct="1">
      <a:defRPr sz="2400" b="1" kern="1200">
        <a:solidFill>
          <a:schemeClr val="tx2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1" hangingPunct="1">
      <a:defRPr sz="2400" b="1" kern="1200">
        <a:solidFill>
          <a:schemeClr val="tx2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1D2088"/>
    <a:srgbClr val="0592D9"/>
    <a:srgbClr val="969696"/>
    <a:srgbClr val="0D94D9"/>
    <a:srgbClr val="009999"/>
    <a:srgbClr val="174CA1"/>
    <a:srgbClr val="00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82115" autoAdjust="0"/>
  </p:normalViewPr>
  <p:slideViewPr>
    <p:cSldViewPr>
      <p:cViewPr varScale="1">
        <p:scale>
          <a:sx n="92" d="100"/>
          <a:sy n="92" d="100"/>
        </p:scale>
        <p:origin x="208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Times New Roman" pitchFamily="18" charset="0"/>
                <a:ea typeface="Arial Unicode MS" pitchFamily="50" charset="-128"/>
                <a:cs typeface="Arial Unicode MS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1588" y="0"/>
            <a:ext cx="2916237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Times New Roman" pitchFamily="18" charset="0"/>
                <a:ea typeface="Arial Unicode MS" pitchFamily="50" charset="-128"/>
                <a:cs typeface="Arial Unicode MS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1013"/>
            <a:ext cx="2916238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Times New Roman" pitchFamily="18" charset="0"/>
                <a:ea typeface="Arial Unicode MS" pitchFamily="50" charset="-128"/>
                <a:cs typeface="Arial Unicode MS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1588" y="9371013"/>
            <a:ext cx="2916237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Times New Roman" pitchFamily="18" charset="0"/>
                <a:ea typeface="Arial Unicode MS" pitchFamily="50" charset="-128"/>
                <a:cs typeface="Arial Unicode MS" pitchFamily="50" charset="-128"/>
              </a:defRPr>
            </a:lvl1pPr>
          </a:lstStyle>
          <a:p>
            <a:pPr>
              <a:defRPr/>
            </a:pPr>
            <a:fld id="{8A70BCD3-9373-4997-848E-304D46E3DBAE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35214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Tx/>
              <a:buChar char="•"/>
              <a:defRPr sz="1200">
                <a:latin typeface="Arial" charset="0"/>
                <a:ea typeface="Arial Unicode MS" pitchFamily="50" charset="-128"/>
                <a:cs typeface="Arial Unicode MS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90950" y="0"/>
            <a:ext cx="2916238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FontTx/>
              <a:buChar char="•"/>
              <a:defRPr sz="1200">
                <a:latin typeface="Arial" charset="0"/>
                <a:ea typeface="Arial Unicode MS" pitchFamily="50" charset="-128"/>
                <a:cs typeface="Arial Unicode MS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727075"/>
            <a:ext cx="4960938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4713" y="4691063"/>
            <a:ext cx="4957762" cy="444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16238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Tx/>
              <a:buChar char="•"/>
              <a:defRPr sz="1200">
                <a:latin typeface="Arial" charset="0"/>
                <a:ea typeface="Arial Unicode MS" pitchFamily="50" charset="-128"/>
                <a:cs typeface="Arial Unicode MS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0950" y="9380538"/>
            <a:ext cx="2916238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FontTx/>
              <a:buChar char="•"/>
              <a:defRPr sz="1200">
                <a:latin typeface="Arial" charset="0"/>
                <a:ea typeface="Arial Unicode MS" pitchFamily="50" charset="-128"/>
                <a:cs typeface="Arial Unicode MS" pitchFamily="50" charset="-128"/>
              </a:defRPr>
            </a:lvl1pPr>
          </a:lstStyle>
          <a:p>
            <a:pPr>
              <a:defRPr/>
            </a:pPr>
            <a:fld id="{37527F83-69EC-4DCD-B837-1E7CC0B7B023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339799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527F83-69EC-4DCD-B837-1E7CC0B7B023}" type="slidenum">
              <a:rPr lang="ja-JP" altLang="en-US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2129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527F83-69EC-4DCD-B837-1E7CC0B7B023}" type="slidenum">
              <a:rPr lang="ja-JP" altLang="en-US" smtClean="0"/>
              <a:pPr>
                <a:defRPr/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6696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그림을 줄이고 달성하고자 하는 목표 글로 추가</a:t>
            </a:r>
            <a:endParaRPr lang="en-US" altLang="ko-KR" dirty="0"/>
          </a:p>
          <a:p>
            <a:r>
              <a:rPr lang="en-US" altLang="ko-KR" dirty="0"/>
              <a:t>write latency </a:t>
            </a:r>
            <a:r>
              <a:rPr lang="ko-KR" altLang="en-US" dirty="0"/>
              <a:t>측면에서 단점이 있음을 짤막하게 추가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527F83-69EC-4DCD-B837-1E7CC0B7B023}" type="slidenum">
              <a:rPr lang="ja-JP" altLang="en-US" smtClean="0"/>
              <a:pPr>
                <a:defRPr/>
              </a:pPr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54167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527F83-69EC-4DCD-B837-1E7CC0B7B023}" type="slidenum">
              <a:rPr lang="ja-JP" altLang="en-US" smtClean="0"/>
              <a:pPr>
                <a:defRPr/>
              </a:pPr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59300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527F83-69EC-4DCD-B837-1E7CC0B7B023}" type="slidenum">
              <a:rPr lang="ja-JP" altLang="en-US" smtClean="0"/>
              <a:pPr>
                <a:defRPr/>
              </a:pPr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36081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527F83-69EC-4DCD-B837-1E7CC0B7B023}" type="slidenum">
              <a:rPr lang="ja-JP" altLang="en-US" smtClean="0"/>
              <a:pPr>
                <a:defRPr/>
              </a:pPr>
              <a:t>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6635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527F83-69EC-4DCD-B837-1E7CC0B7B023}" type="slidenum">
              <a:rPr lang="ja-JP" altLang="en-US" smtClean="0"/>
              <a:pPr>
                <a:defRPr/>
              </a:pPr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45190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527F83-69EC-4DCD-B837-1E7CC0B7B023}" type="slidenum">
              <a:rPr lang="ja-JP" altLang="en-US" smtClean="0"/>
              <a:pPr>
                <a:defRPr/>
              </a:pPr>
              <a:t>22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31062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 err="1"/>
              <a:t>DoB</a:t>
            </a:r>
            <a:r>
              <a:rPr lang="en-US" altLang="ko-KR" dirty="0"/>
              <a:t> </a:t>
            </a:r>
            <a:r>
              <a:rPr lang="ko-KR" altLang="en-US" dirty="0"/>
              <a:t>같은 경우 모든 </a:t>
            </a:r>
            <a:r>
              <a:rPr lang="en-US" altLang="ko-KR" dirty="0"/>
              <a:t>weight</a:t>
            </a:r>
            <a:r>
              <a:rPr lang="ko-KR" altLang="en-US" dirty="0"/>
              <a:t>을 담을 수 없을 수 있음 이런 경우</a:t>
            </a:r>
            <a:r>
              <a:rPr lang="en-US" altLang="ko-KR" dirty="0"/>
              <a:t>??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weight </a:t>
            </a:r>
            <a:r>
              <a:rPr lang="ko-KR" altLang="en-US" dirty="0"/>
              <a:t>중 일부만 담고 나머지는 </a:t>
            </a:r>
            <a:r>
              <a:rPr lang="en-US" altLang="ko-KR" dirty="0"/>
              <a:t>off-chip</a:t>
            </a:r>
            <a:r>
              <a:rPr lang="ko-KR" altLang="en-US" dirty="0"/>
              <a:t>에서 </a:t>
            </a:r>
            <a:r>
              <a:rPr lang="ko-KR" altLang="en-US" dirty="0" err="1"/>
              <a:t>읽어옴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일정 공간을 할당해서 </a:t>
            </a:r>
            <a:r>
              <a:rPr lang="ko-KR" altLang="en-US" dirty="0" err="1"/>
              <a:t>담아옴</a:t>
            </a:r>
            <a:r>
              <a:rPr lang="en-US" altLang="ko-KR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앞쪽 계층의 </a:t>
            </a:r>
            <a:r>
              <a:rPr lang="en-US" altLang="ko-KR" dirty="0"/>
              <a:t>weight</a:t>
            </a:r>
            <a:r>
              <a:rPr lang="ko-KR" altLang="en-US" dirty="0"/>
              <a:t>이 일반적으로 더 크므로 이들만 저장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실제로 </a:t>
            </a:r>
            <a:r>
              <a:rPr lang="en-US" altLang="ko-KR" dirty="0"/>
              <a:t>write </a:t>
            </a:r>
            <a:r>
              <a:rPr lang="en-US" altLang="ko-KR" dirty="0" err="1"/>
              <a:t>latenc</a:t>
            </a:r>
            <a:r>
              <a:rPr lang="ko-KR" altLang="en-US" dirty="0"/>
              <a:t>가 얼마나 줄어드는가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SRAM</a:t>
            </a:r>
            <a:r>
              <a:rPr lang="ko-KR" altLang="en-US" dirty="0"/>
              <a:t>과 비교하였을 때 세배 가량 더 많은 사이클을 소모함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527F83-69EC-4DCD-B837-1E7CC0B7B023}" type="slidenum">
              <a:rPr lang="ja-JP" altLang="en-US" smtClean="0"/>
              <a:pPr>
                <a:defRPr/>
              </a:pPr>
              <a:t>26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2839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97957-08AB-4F7A-94E2-6C14936089BC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1BD9CA-7937-4B8E-A718-7AA46024D6E3}"/>
              </a:ext>
            </a:extLst>
          </p:cNvPr>
          <p:cNvSpPr/>
          <p:nvPr userDrawn="1"/>
        </p:nvSpPr>
        <p:spPr bwMode="auto">
          <a:xfrm>
            <a:off x="0" y="6639163"/>
            <a:ext cx="9144000" cy="246221"/>
          </a:xfrm>
          <a:prstGeom prst="rect">
            <a:avLst/>
          </a:prstGeom>
          <a:gradFill flip="none" rotWithShape="1">
            <a:gsLst>
              <a:gs pos="0">
                <a:srgbClr val="1D2088"/>
              </a:gs>
              <a:gs pos="100000">
                <a:srgbClr val="0592D9"/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ISOCC2023</a:t>
            </a:r>
            <a:endParaRPr kumimoji="0" lang="ko-KR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556792"/>
            <a:ext cx="7772400" cy="44644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12E6A-201C-412F-81B9-107A03B231BF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B2B3D-E4E8-41E8-82DD-3CF7AEBE3FDD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196975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D7FC29-EBC6-4A5B-B95A-63239B9F7F2E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E9160-42AB-43CB-B7E5-26DE9CBBD47C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3DDBD7-18CD-4204-811D-24541E45881F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4B131-8DB9-4783-AFAD-CF7386D5A2CD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3008313" cy="88642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1661367"/>
            <a:ext cx="5111750" cy="44647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2547787"/>
            <a:ext cx="3008313" cy="35783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7393BD-4F37-41D9-87F0-DA9F1282A6E6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989348"/>
            <a:ext cx="5486400" cy="5151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1124743"/>
            <a:ext cx="5486400" cy="37399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577778"/>
            <a:ext cx="5486400" cy="73154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48C79-8360-4ED5-811A-BDA25FCC3D2B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8680"/>
            <a:ext cx="9144000" cy="762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EBF41-6813-4D0D-8191-08367E97B973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539204"/>
            <a:ext cx="2286000" cy="56261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539204"/>
            <a:ext cx="6705600" cy="56261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E6B3C-9431-4C24-8D38-4C9125E36BF3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539204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17104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4213" y="6381750"/>
            <a:ext cx="77755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00" b="0">
                <a:solidFill>
                  <a:schemeClr val="tx1"/>
                </a:solidFill>
                <a:latin typeface="Arial" charset="0"/>
                <a:ea typeface="Arial Unicode MS" pitchFamily="50" charset="-128"/>
                <a:cs typeface="Arial Unicode MS" pitchFamily="50" charset="-128"/>
              </a:defRPr>
            </a:lvl1pPr>
          </a:lstStyle>
          <a:p>
            <a:pPr>
              <a:defRPr/>
            </a:pPr>
            <a:fld id="{0F147FF6-2064-4188-A01F-9BEF9A3BFA31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29" name="Rectangle 7"/>
          <p:cNvSpPr>
            <a:spLocks noChangeArrowheads="1"/>
          </p:cNvSpPr>
          <p:nvPr userDrawn="1"/>
        </p:nvSpPr>
        <p:spPr bwMode="auto">
          <a:xfrm>
            <a:off x="0" y="1323876"/>
            <a:ext cx="9144000" cy="889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2"/>
                </a:solidFill>
                <a:latin typeface="Arial" charset="0"/>
              </a:defRPr>
            </a:lvl1pPr>
            <a:lvl2pPr marL="742950" indent="-285750">
              <a:defRPr sz="2400" b="1">
                <a:solidFill>
                  <a:schemeClr val="tx2"/>
                </a:solidFill>
                <a:latin typeface="Arial" charset="0"/>
              </a:defRPr>
            </a:lvl2pPr>
            <a:lvl3pPr marL="1143000" indent="-228600">
              <a:defRPr sz="2400" b="1">
                <a:solidFill>
                  <a:schemeClr val="tx2"/>
                </a:solidFill>
                <a:latin typeface="Arial" charset="0"/>
              </a:defRPr>
            </a:lvl3pPr>
            <a:lvl4pPr marL="1600200" indent="-228600">
              <a:defRPr sz="2400" b="1">
                <a:solidFill>
                  <a:schemeClr val="tx2"/>
                </a:solidFill>
                <a:latin typeface="Arial" charset="0"/>
              </a:defRPr>
            </a:lvl4pPr>
            <a:lvl5pPr marL="2057400" indent="-228600">
              <a:defRPr sz="2400" b="1">
                <a:solidFill>
                  <a:schemeClr val="tx2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ko-KR" altLang="en-US">
              <a:ea typeface="굴림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D68DAC-6673-1743-0199-39703785245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6"/>
            <a:ext cx="9144000" cy="5425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7"/>
          <p:cNvSpPr>
            <a:spLocks noChangeArrowheads="1"/>
          </p:cNvSpPr>
          <p:nvPr/>
        </p:nvSpPr>
        <p:spPr bwMode="auto">
          <a:xfrm>
            <a:off x="0" y="1053554"/>
            <a:ext cx="9144000" cy="50323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ko-KR" altLang="en-US">
              <a:ea typeface="굴림" pitchFamily="50" charset="-127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46100"/>
            <a:ext cx="8634413" cy="2090738"/>
          </a:xfrm>
        </p:spPr>
        <p:txBody>
          <a:bodyPr lIns="93600" rIns="93600" anchor="b"/>
          <a:lstStyle/>
          <a:p>
            <a:pPr>
              <a:lnSpc>
                <a:spcPct val="90000"/>
              </a:lnSpc>
            </a:pPr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Improving Performance and Energy-efficiency of DNN Accelerators with STT-RAM Buffers</a:t>
            </a:r>
            <a:endParaRPr lang="ja-JP" altLang="en-US" sz="3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0838" y="3356992"/>
            <a:ext cx="8397875" cy="3024336"/>
          </a:xfrm>
        </p:spPr>
        <p:txBody>
          <a:bodyPr lIns="93600" rIns="93600"/>
          <a:lstStyle/>
          <a:p>
            <a:pPr>
              <a:lnSpc>
                <a:spcPct val="89000"/>
              </a:lnSpc>
            </a:pPr>
            <a:r>
              <a:rPr lang="en-US" altLang="ja-JP" sz="2600" dirty="0" err="1">
                <a:ea typeface="Arial Unicode MS" pitchFamily="50" charset="-127"/>
                <a:cs typeface="Arial Unicode MS" pitchFamily="50" charset="-127"/>
              </a:rPr>
              <a:t>Gwangeun</a:t>
            </a:r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ja-JP" sz="2600" dirty="0" err="1">
                <a:ea typeface="Arial Unicode MS" pitchFamily="50" charset="-127"/>
                <a:cs typeface="Arial Unicode MS" pitchFamily="50" charset="-127"/>
              </a:rPr>
              <a:t>Byeon</a:t>
            </a:r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, Seongwook Kim, </a:t>
            </a:r>
            <a:r>
              <a:rPr lang="en-US" altLang="ja-JP" sz="2600" dirty="0" err="1">
                <a:ea typeface="Arial Unicode MS" pitchFamily="50" charset="-127"/>
                <a:cs typeface="Arial Unicode MS" pitchFamily="50" charset="-127"/>
              </a:rPr>
              <a:t>Seokin</a:t>
            </a:r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 Hong</a:t>
            </a:r>
          </a:p>
          <a:p>
            <a:pPr>
              <a:lnSpc>
                <a:spcPct val="89000"/>
              </a:lnSpc>
            </a:pPr>
            <a:endParaRPr lang="en-US" altLang="ja-JP" sz="2400" baseline="30000" dirty="0">
              <a:ea typeface="Arial Unicode MS" pitchFamily="50" charset="-127"/>
              <a:cs typeface="Arial Unicode MS" pitchFamily="50" charset="-127"/>
            </a:endParaRPr>
          </a:p>
          <a:p>
            <a:pPr>
              <a:lnSpc>
                <a:spcPct val="89000"/>
              </a:lnSpc>
            </a:pPr>
            <a:endParaRPr lang="en-US" altLang="ja-JP" sz="2400" b="0" baseline="30000" dirty="0">
              <a:ea typeface="Arial Unicode MS" pitchFamily="50" charset="-127"/>
              <a:cs typeface="Arial Unicode MS" pitchFamily="50" charset="-127"/>
            </a:endParaRPr>
          </a:p>
          <a:p>
            <a:pPr>
              <a:lnSpc>
                <a:spcPct val="89000"/>
              </a:lnSpc>
            </a:pPr>
            <a:r>
              <a:rPr lang="en-US" altLang="ja-JP" sz="2400" i="1" dirty="0">
                <a:ea typeface="Arial Unicode MS" pitchFamily="50" charset="-127"/>
                <a:cs typeface="Arial Unicode MS" pitchFamily="50" charset="-127"/>
              </a:rPr>
              <a:t>Department of Electrical and Computer Engineering</a:t>
            </a:r>
          </a:p>
          <a:p>
            <a:pPr>
              <a:lnSpc>
                <a:spcPct val="89000"/>
              </a:lnSpc>
            </a:pPr>
            <a:r>
              <a:rPr lang="en-US" altLang="ja-JP" sz="2400" i="1" dirty="0">
                <a:ea typeface="Arial Unicode MS" pitchFamily="50" charset="-127"/>
                <a:cs typeface="Arial Unicode MS" pitchFamily="50" charset="-127"/>
              </a:rPr>
              <a:t>Sungkyunkwan University</a:t>
            </a:r>
          </a:p>
          <a:p>
            <a:pPr>
              <a:lnSpc>
                <a:spcPct val="89000"/>
              </a:lnSpc>
            </a:pPr>
            <a:r>
              <a:rPr lang="en-US" altLang="ja-JP" sz="2400" i="1" dirty="0">
                <a:ea typeface="Arial Unicode MS" pitchFamily="50" charset="-127"/>
                <a:cs typeface="Arial Unicode MS" pitchFamily="50" charset="-127"/>
              </a:rPr>
              <a:t>Suwon, Korea</a:t>
            </a:r>
          </a:p>
          <a:p>
            <a:pPr>
              <a:lnSpc>
                <a:spcPct val="89000"/>
              </a:lnSpc>
            </a:pPr>
            <a:endParaRPr lang="en-US" altLang="ja-JP" sz="2400" i="1" dirty="0">
              <a:ea typeface="Arial Unicode MS" pitchFamily="50" charset="-127"/>
              <a:cs typeface="Arial Unicode MS" pitchFamily="50" charset="-127"/>
            </a:endParaRPr>
          </a:p>
          <a:p>
            <a:pPr>
              <a:lnSpc>
                <a:spcPct val="89000"/>
              </a:lnSpc>
            </a:pPr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Presenter: Seongwook Kim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56"/>
    </mc:Choice>
    <mc:Fallback xmlns="">
      <p:transition spd="slow" advTm="915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Arial Unicode MS" pitchFamily="50" charset="-127"/>
                <a:cs typeface="Arial Unicode MS" pitchFamily="50" charset="-127"/>
              </a:rPr>
              <a:t>Outline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276872"/>
            <a:ext cx="7772400" cy="3600400"/>
          </a:xfrm>
        </p:spPr>
        <p:txBody>
          <a:bodyPr/>
          <a:lstStyle/>
          <a:p>
            <a:r>
              <a:rPr lang="en-US" altLang="ja-JP" dirty="0">
                <a:ea typeface="Arial Unicode MS" pitchFamily="50" charset="-127"/>
                <a:cs typeface="Arial Unicode MS" pitchFamily="50" charset="-127"/>
              </a:rPr>
              <a:t>Background</a:t>
            </a:r>
            <a:endParaRPr lang="en-US" altLang="ja-JP" sz="2400" dirty="0">
              <a:ea typeface="Arial Unicode MS" pitchFamily="50" charset="-127"/>
              <a:cs typeface="Arial Unicode MS" pitchFamily="50" charset="-127"/>
            </a:endParaRPr>
          </a:p>
          <a:p>
            <a:r>
              <a:rPr lang="en-US" altLang="ja-JP" dirty="0">
                <a:ea typeface="Arial Unicode MS" pitchFamily="50" charset="-127"/>
                <a:cs typeface="Arial Unicode MS" pitchFamily="50" charset="-127"/>
              </a:rPr>
              <a:t>On-Chip Buffer with STT-MRAM cells</a:t>
            </a:r>
          </a:p>
          <a:p>
            <a:r>
              <a:rPr lang="en-US" altLang="ja-JP" dirty="0">
                <a:ea typeface="Arial Unicode MS" pitchFamily="50" charset="-127"/>
                <a:cs typeface="Arial Unicode MS" pitchFamily="50" charset="-127"/>
              </a:rPr>
              <a:t>Evaluation</a:t>
            </a:r>
          </a:p>
          <a:p>
            <a:r>
              <a:rPr lang="en-US" altLang="ja-JP" dirty="0">
                <a:ea typeface="Arial Unicode MS" pitchFamily="50" charset="-127"/>
                <a:cs typeface="Arial Unicode MS" pitchFamily="50" charset="-127"/>
              </a:rPr>
              <a:t>Conclusion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2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3212976"/>
            <a:ext cx="7772400" cy="1368152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ja-JP" sz="4800" dirty="0">
                <a:ea typeface="Arial Unicode MS" pitchFamily="50" charset="-127"/>
                <a:cs typeface="Arial Unicode MS" pitchFamily="50" charset="-127"/>
              </a:rPr>
              <a:t>Background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3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285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Limitations</a:t>
            </a:r>
            <a:r>
              <a:rPr lang="ko-KR" altLang="en-US" sz="4000" dirty="0"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4000" dirty="0">
                <a:ea typeface="Arial Unicode MS" pitchFamily="50" charset="-127"/>
                <a:cs typeface="Arial Unicode MS" pitchFamily="50" charset="-127"/>
              </a:rPr>
              <a:t>of</a:t>
            </a:r>
            <a:r>
              <a:rPr lang="ko-KR" altLang="en-US" sz="4000" dirty="0"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4000" dirty="0">
                <a:ea typeface="Arial Unicode MS" pitchFamily="50" charset="-127"/>
                <a:cs typeface="Arial Unicode MS" pitchFamily="50" charset="-127"/>
              </a:rPr>
              <a:t>SRAM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1944216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Large Cell Size</a:t>
            </a:r>
          </a:p>
          <a:p>
            <a:pPr lvl="1"/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Each cell composed of 6 transistors</a:t>
            </a:r>
          </a:p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Large Leakage Power</a:t>
            </a:r>
          </a:p>
          <a:p>
            <a:pPr lvl="1"/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Small current flows through the off transistors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4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6B7B6D-50C6-4A3E-A506-7B0BF0FB3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422410"/>
            <a:ext cx="3168352" cy="282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4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1202E-6EC4-4998-A4DB-1D7BF4F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On-chip Buffer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EDA797-F6BF-45E9-BBD5-FE3DFBDF70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D12E6A-201C-412F-81B9-107A03B231BF}" type="slidenum">
              <a:rPr lang="ja-JP" altLang="en-US" smtClean="0"/>
              <a:pPr>
                <a:defRPr/>
              </a:pPr>
              <a:t>5</a:t>
            </a:fld>
            <a:endParaRPr lang="en-US" altLang="ja-JP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E4CD357-D0C0-4F9D-B8A0-64B28B3A46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42" y="2780928"/>
            <a:ext cx="2359100" cy="2460914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64DCE9F3-5C39-4751-A0C5-1FD20720B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84784"/>
            <a:ext cx="7772400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ja-JP" sz="2600" kern="0" dirty="0">
                <a:ea typeface="Arial Unicode MS" pitchFamily="50" charset="-127"/>
                <a:cs typeface="Arial Unicode MS" pitchFamily="50" charset="-127"/>
              </a:rPr>
              <a:t>On-chip buffer takes large portion of the overall hardware overhead (area &amp; power)</a:t>
            </a:r>
            <a:endParaRPr lang="en-US" altLang="ja-JP" sz="2400" kern="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C2B616-80CF-44D4-925C-BD6460AC2BC5}"/>
              </a:ext>
            </a:extLst>
          </p:cNvPr>
          <p:cNvSpPr txBox="1"/>
          <p:nvPr/>
        </p:nvSpPr>
        <p:spPr>
          <a:xfrm>
            <a:off x="595137" y="5303273"/>
            <a:ext cx="3774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Die photo of Tesla’s FSD chip</a:t>
            </a:r>
            <a:endParaRPr lang="ko-KR" alt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63AFFD-3833-41A4-9856-CAF8EBB70B08}"/>
              </a:ext>
            </a:extLst>
          </p:cNvPr>
          <p:cNvSpPr txBox="1"/>
          <p:nvPr/>
        </p:nvSpPr>
        <p:spPr>
          <a:xfrm>
            <a:off x="0" y="6073551"/>
            <a:ext cx="5558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https://en.wikichip.org/wiki/tesla_(car_company)/fsd_chip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014435FD-290A-490A-BFD5-15B08E0AB371}"/>
              </a:ext>
            </a:extLst>
          </p:cNvPr>
          <p:cNvSpPr/>
          <p:nvPr/>
        </p:nvSpPr>
        <p:spPr bwMode="auto">
          <a:xfrm>
            <a:off x="3970910" y="3805915"/>
            <a:ext cx="619348" cy="41094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81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958BB-1C3B-47D7-8124-B5A64E01978F}"/>
              </a:ext>
            </a:extLst>
          </p:cNvPr>
          <p:cNvSpPr txBox="1"/>
          <p:nvPr/>
        </p:nvSpPr>
        <p:spPr>
          <a:xfrm>
            <a:off x="4859636" y="3035637"/>
            <a:ext cx="3689060" cy="195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ja-JP" sz="2800" dirty="0">
                <a:ea typeface="Arial Unicode MS" pitchFamily="50" charset="-127"/>
                <a:cs typeface="Arial Unicode MS" pitchFamily="50" charset="-127"/>
              </a:rPr>
              <a:t>How to reduce the hardware overhead of on-chip buffers?</a:t>
            </a:r>
          </a:p>
        </p:txBody>
      </p:sp>
    </p:spTree>
    <p:extLst>
      <p:ext uri="{BB962C8B-B14F-4D97-AF65-F5344CB8AC3E}">
        <p14:creationId xmlns:p14="http://schemas.microsoft.com/office/powerpoint/2010/main" val="281840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STT-MRAM Cell</a:t>
            </a:r>
            <a:endParaRPr lang="en-US" altLang="ja-JP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1872208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A bit is stored inside the MTJ (Magnetic Tunnel Junction)</a:t>
            </a:r>
          </a:p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Resistance state of the MTJ controlled by the bit line determines the stored bit</a:t>
            </a:r>
            <a:endParaRPr lang="en-US" altLang="ja-JP" sz="22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6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E4079525-1415-4A9E-9C52-765F9F5E349A}"/>
              </a:ext>
            </a:extLst>
          </p:cNvPr>
          <p:cNvSpPr/>
          <p:nvPr/>
        </p:nvSpPr>
        <p:spPr bwMode="auto">
          <a:xfrm>
            <a:off x="1187624" y="4569209"/>
            <a:ext cx="4497760" cy="1608013"/>
          </a:xfrm>
          <a:prstGeom prst="parallelogram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pic>
        <p:nvPicPr>
          <p:cNvPr id="50" name="그래픽 49">
            <a:extLst>
              <a:ext uri="{FF2B5EF4-FFF2-40B4-BE49-F238E27FC236}">
                <a16:creationId xmlns:a16="http://schemas.microsoft.com/office/drawing/2014/main" id="{76EDC04F-D585-4CA3-A0DB-D3F701C87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213" y="3419276"/>
            <a:ext cx="4328633" cy="2859521"/>
          </a:xfrm>
          <a:prstGeom prst="rect">
            <a:avLst/>
          </a:prstGeom>
        </p:spPr>
      </p:pic>
      <p:pic>
        <p:nvPicPr>
          <p:cNvPr id="51" name="그래픽 50">
            <a:extLst>
              <a:ext uri="{FF2B5EF4-FFF2-40B4-BE49-F238E27FC236}">
                <a16:creationId xmlns:a16="http://schemas.microsoft.com/office/drawing/2014/main" id="{567509E2-9BF5-4F7E-9E58-DD10D0AD7D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1840" y="3825437"/>
            <a:ext cx="5652120" cy="1683219"/>
          </a:xfrm>
          <a:prstGeom prst="rect">
            <a:avLst/>
          </a:prstGeom>
        </p:spPr>
      </p:pic>
      <p:grpSp>
        <p:nvGrpSpPr>
          <p:cNvPr id="81" name="그룹 80">
            <a:extLst>
              <a:ext uri="{FF2B5EF4-FFF2-40B4-BE49-F238E27FC236}">
                <a16:creationId xmlns:a16="http://schemas.microsoft.com/office/drawing/2014/main" id="{B68C7871-223D-48E3-844D-9E3D8DA26765}"/>
              </a:ext>
            </a:extLst>
          </p:cNvPr>
          <p:cNvGrpSpPr/>
          <p:nvPr/>
        </p:nvGrpSpPr>
        <p:grpSpPr>
          <a:xfrm>
            <a:off x="2339752" y="4624763"/>
            <a:ext cx="4298823" cy="1814943"/>
            <a:chOff x="2339752" y="4624763"/>
            <a:chExt cx="4298823" cy="1814943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DBAF3250-4873-4AAB-A42C-CA38B04928B5}"/>
                </a:ext>
              </a:extLst>
            </p:cNvPr>
            <p:cNvSpPr/>
            <p:nvPr/>
          </p:nvSpPr>
          <p:spPr bwMode="auto">
            <a:xfrm>
              <a:off x="2339752" y="4624763"/>
              <a:ext cx="1224136" cy="1224136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38100">
              <a:solidFill>
                <a:srgbClr val="FF0000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CDF475E3-CDAD-48B3-A70F-7DDAE37CF5C4}"/>
                </a:ext>
              </a:extLst>
            </p:cNvPr>
            <p:cNvCxnSpPr>
              <a:stCxn id="52" idx="5"/>
              <a:endCxn id="79" idx="1"/>
            </p:cNvCxnSpPr>
            <p:nvPr/>
          </p:nvCxnSpPr>
          <p:spPr bwMode="auto">
            <a:xfrm>
              <a:off x="3384617" y="5669628"/>
              <a:ext cx="1081504" cy="585412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B6FAAE7-AAAC-4180-8822-03E5B2525CF7}"/>
                </a:ext>
              </a:extLst>
            </p:cNvPr>
            <p:cNvSpPr txBox="1"/>
            <p:nvPr/>
          </p:nvSpPr>
          <p:spPr>
            <a:xfrm>
              <a:off x="4466121" y="6070374"/>
              <a:ext cx="2172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dirty="0">
                  <a:solidFill>
                    <a:srgbClr val="FF0000"/>
                  </a:solidFill>
                </a:rPr>
                <a:t>Access Transistor</a:t>
              </a:r>
              <a:endParaRPr lang="ko-KR" altLang="en-US" sz="1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BB9FE42E-B934-4016-98CE-55F367F859B0}"/>
              </a:ext>
            </a:extLst>
          </p:cNvPr>
          <p:cNvGrpSpPr/>
          <p:nvPr/>
        </p:nvGrpSpPr>
        <p:grpSpPr>
          <a:xfrm>
            <a:off x="3059832" y="3223834"/>
            <a:ext cx="4886688" cy="1349453"/>
            <a:chOff x="3059832" y="3223834"/>
            <a:chExt cx="4886688" cy="1349453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F6A44A98-C912-4F33-BDD6-494938C2FEEE}"/>
                </a:ext>
              </a:extLst>
            </p:cNvPr>
            <p:cNvSpPr/>
            <p:nvPr/>
          </p:nvSpPr>
          <p:spPr bwMode="auto">
            <a:xfrm>
              <a:off x="3059832" y="3961219"/>
              <a:ext cx="612068" cy="612068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38100">
              <a:solidFill>
                <a:srgbClr val="FF0000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FC9BE715-E976-40C2-8B73-89DD85C47937}"/>
                </a:ext>
              </a:extLst>
            </p:cNvPr>
            <p:cNvCxnSpPr>
              <a:stCxn id="82" idx="7"/>
              <a:endCxn id="84" idx="1"/>
            </p:cNvCxnSpPr>
            <p:nvPr/>
          </p:nvCxnSpPr>
          <p:spPr bwMode="auto">
            <a:xfrm flipV="1">
              <a:off x="3582265" y="3408500"/>
              <a:ext cx="1349775" cy="642354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C4905BB-618D-4D66-AAF3-EF67E0F9FE33}"/>
                </a:ext>
              </a:extLst>
            </p:cNvPr>
            <p:cNvSpPr txBox="1"/>
            <p:nvPr/>
          </p:nvSpPr>
          <p:spPr>
            <a:xfrm>
              <a:off x="4932040" y="3223834"/>
              <a:ext cx="3014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dirty="0">
                  <a:solidFill>
                    <a:srgbClr val="FF0000"/>
                  </a:solidFill>
                </a:rPr>
                <a:t>Magnetic Tunnel Junction</a:t>
              </a:r>
              <a:endParaRPr lang="ko-KR" altLang="en-US" sz="1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7F7A3BF-DB54-49E7-AB70-8118EB655F5A}"/>
              </a:ext>
            </a:extLst>
          </p:cNvPr>
          <p:cNvSpPr/>
          <p:nvPr/>
        </p:nvSpPr>
        <p:spPr bwMode="auto">
          <a:xfrm>
            <a:off x="5461347" y="4118122"/>
            <a:ext cx="864096" cy="28760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6D148EE-FB8F-445F-9A42-25ED0E798510}"/>
              </a:ext>
            </a:extLst>
          </p:cNvPr>
          <p:cNvSpPr/>
          <p:nvPr/>
        </p:nvSpPr>
        <p:spPr bwMode="auto">
          <a:xfrm>
            <a:off x="5395100" y="4693549"/>
            <a:ext cx="864096" cy="28760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0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STT-MRAM Cell</a:t>
            </a:r>
            <a:endParaRPr lang="en-US" altLang="ja-JP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2621012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Pros</a:t>
            </a:r>
          </a:p>
          <a:p>
            <a:pPr lvl="1"/>
            <a:r>
              <a:rPr lang="en-US" altLang="ja-JP" sz="2200" dirty="0">
                <a:solidFill>
                  <a:srgbClr val="FF0000"/>
                </a:solidFill>
                <a:ea typeface="Arial Unicode MS" pitchFamily="50" charset="-127"/>
                <a:cs typeface="Arial Unicode MS" pitchFamily="50" charset="-127"/>
              </a:rPr>
              <a:t>Small cell size </a:t>
            </a:r>
            <a:r>
              <a:rPr lang="en-US" altLang="ja-JP" sz="2200" dirty="0">
                <a:ea typeface="Arial Unicode MS" pitchFamily="50" charset="-127"/>
                <a:cs typeface="Arial Unicode MS" pitchFamily="50" charset="-127"/>
                <a:sym typeface="Wingdings" panose="05000000000000000000" pitchFamily="2" charset="2"/>
              </a:rPr>
              <a:t> 4x smaller than SRAM</a:t>
            </a:r>
          </a:p>
          <a:p>
            <a:pPr lvl="1"/>
            <a:r>
              <a:rPr lang="en-US" altLang="ja-JP" sz="2200" dirty="0">
                <a:solidFill>
                  <a:srgbClr val="FF0000"/>
                </a:solidFill>
                <a:ea typeface="Arial Unicode MS" pitchFamily="50" charset="-127"/>
                <a:cs typeface="Arial Unicode MS" pitchFamily="50" charset="-127"/>
                <a:sym typeface="Wingdings" panose="05000000000000000000" pitchFamily="2" charset="2"/>
              </a:rPr>
              <a:t>Near-zero leakage power</a:t>
            </a:r>
          </a:p>
          <a:p>
            <a:pPr lvl="1"/>
            <a:r>
              <a:rPr lang="en-US" altLang="ja-JP" sz="2200" dirty="0">
                <a:solidFill>
                  <a:srgbClr val="FF0000"/>
                </a:solidFill>
                <a:ea typeface="Arial Unicode MS" pitchFamily="50" charset="-127"/>
                <a:cs typeface="Arial Unicode MS" pitchFamily="50" charset="-127"/>
                <a:sym typeface="Wingdings" panose="05000000000000000000" pitchFamily="2" charset="2"/>
              </a:rPr>
              <a:t>Non-volatile memory</a:t>
            </a:r>
          </a:p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  <a:sym typeface="Wingdings" panose="05000000000000000000" pitchFamily="2" charset="2"/>
              </a:rPr>
              <a:t>Cons</a:t>
            </a:r>
          </a:p>
          <a:p>
            <a:pPr lvl="1"/>
            <a:r>
              <a:rPr lang="en-US" altLang="ja-JP" sz="2200" dirty="0">
                <a:solidFill>
                  <a:schemeClr val="accent6"/>
                </a:solidFill>
                <a:ea typeface="Arial Unicode MS" pitchFamily="50" charset="-127"/>
                <a:cs typeface="Arial Unicode MS" pitchFamily="50" charset="-127"/>
                <a:sym typeface="Wingdings" panose="05000000000000000000" pitchFamily="2" charset="2"/>
              </a:rPr>
              <a:t>Long write latency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7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5EAFC40-3850-4E07-A02B-976DEC567DA8}"/>
              </a:ext>
            </a:extLst>
          </p:cNvPr>
          <p:cNvSpPr/>
          <p:nvPr/>
        </p:nvSpPr>
        <p:spPr bwMode="auto">
          <a:xfrm rot="5400000">
            <a:off x="4262326" y="4354016"/>
            <a:ext cx="619348" cy="41094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81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8F67CA-B2B6-434B-87C1-E8DE4186879F}"/>
              </a:ext>
            </a:extLst>
          </p:cNvPr>
          <p:cNvSpPr txBox="1"/>
          <p:nvPr/>
        </p:nvSpPr>
        <p:spPr>
          <a:xfrm>
            <a:off x="593304" y="5085184"/>
            <a:ext cx="79573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Make on-chip buffer specialized for DNN Accelerators with STT-MRAM cells </a:t>
            </a:r>
          </a:p>
        </p:txBody>
      </p:sp>
    </p:spTree>
    <p:extLst>
      <p:ext uri="{BB962C8B-B14F-4D97-AF65-F5344CB8AC3E}">
        <p14:creationId xmlns:p14="http://schemas.microsoft.com/office/powerpoint/2010/main" val="230026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1544490" y="2780928"/>
            <a:ext cx="6051846" cy="18002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ja-JP" sz="4800" dirty="0">
                <a:ea typeface="Arial Unicode MS" pitchFamily="50" charset="-127"/>
                <a:cs typeface="Arial Unicode MS" pitchFamily="50" charset="-127"/>
              </a:rPr>
              <a:t>On-Chip Buffer with</a:t>
            </a:r>
            <a:br>
              <a:rPr lang="en-US" altLang="ja-JP" sz="4800" dirty="0">
                <a:ea typeface="Arial Unicode MS" pitchFamily="50" charset="-127"/>
                <a:cs typeface="Arial Unicode MS" pitchFamily="50" charset="-127"/>
              </a:rPr>
            </a:br>
            <a:r>
              <a:rPr lang="en-US" altLang="ja-JP" sz="4800" dirty="0">
                <a:ea typeface="Arial Unicode MS" pitchFamily="50" charset="-127"/>
                <a:cs typeface="Arial Unicode MS" pitchFamily="50" charset="-127"/>
              </a:rPr>
              <a:t>STT-MRAM cells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8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73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Constructing STT-MRAM Buffers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352928" cy="2520280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Write Optimized Buffer (</a:t>
            </a:r>
            <a:r>
              <a:rPr lang="en-US" altLang="ja-JP" sz="2600" dirty="0" err="1">
                <a:ea typeface="Arial Unicode MS" pitchFamily="50" charset="-127"/>
                <a:cs typeface="Arial Unicode MS" pitchFamily="50" charset="-127"/>
              </a:rPr>
              <a:t>WoB</a:t>
            </a:r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)</a:t>
            </a:r>
          </a:p>
          <a:p>
            <a:pPr lvl="1"/>
            <a:r>
              <a:rPr lang="en-US" altLang="ja-JP" sz="2000" dirty="0">
                <a:ea typeface="Arial Unicode MS" pitchFamily="50" charset="-127"/>
                <a:cs typeface="Arial Unicode MS" pitchFamily="50" charset="-127"/>
              </a:rPr>
              <a:t>For activation data</a:t>
            </a:r>
          </a:p>
          <a:p>
            <a:pPr lvl="1"/>
            <a:r>
              <a:rPr lang="en-US" altLang="ja-JP" sz="2000" dirty="0">
                <a:ea typeface="Arial Unicode MS" pitchFamily="50" charset="-127"/>
                <a:cs typeface="Arial Unicode MS" pitchFamily="50" charset="-127"/>
              </a:rPr>
              <a:t>Reduce write latency of the STT-MRAM cell</a:t>
            </a:r>
          </a:p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Density Optimized Buffer (</a:t>
            </a:r>
            <a:r>
              <a:rPr lang="en-US" altLang="ja-JP" sz="2600" dirty="0" err="1">
                <a:ea typeface="Arial Unicode MS" pitchFamily="50" charset="-127"/>
                <a:cs typeface="Arial Unicode MS" pitchFamily="50" charset="-127"/>
              </a:rPr>
              <a:t>DoB</a:t>
            </a:r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) </a:t>
            </a:r>
          </a:p>
          <a:p>
            <a:pPr lvl="1"/>
            <a:r>
              <a:rPr lang="en-US" altLang="ja-JP" sz="2000" dirty="0">
                <a:ea typeface="Arial Unicode MS" pitchFamily="50" charset="-127"/>
                <a:cs typeface="Arial Unicode MS" pitchFamily="50" charset="-127"/>
              </a:rPr>
              <a:t>For weight data</a:t>
            </a:r>
          </a:p>
          <a:p>
            <a:pPr lvl="1"/>
            <a:r>
              <a:rPr lang="en-US" altLang="ja-JP" sz="2000" dirty="0">
                <a:ea typeface="Arial Unicode MS" pitchFamily="50" charset="-127"/>
                <a:cs typeface="Arial Unicode MS" pitchFamily="50" charset="-127"/>
              </a:rPr>
              <a:t>Improve cell density and capacity of the buffer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9</a:t>
            </a:fld>
            <a:endParaRPr lang="en-US" altLang="ja-JP" dirty="0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E86238B-6D69-4A50-BE2A-FFCB4D98C56C}"/>
              </a:ext>
            </a:extLst>
          </p:cNvPr>
          <p:cNvCxnSpPr>
            <a:cxnSpLocks/>
            <a:stCxn id="47" idx="3"/>
            <a:endCxn id="58" idx="0"/>
          </p:cNvCxnSpPr>
          <p:nvPr/>
        </p:nvCxnSpPr>
        <p:spPr>
          <a:xfrm>
            <a:off x="1069293" y="5467723"/>
            <a:ext cx="566748" cy="1195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F5F618E-424A-4130-A844-358E87DAF3D3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>
            <a:off x="2700319" y="5468918"/>
            <a:ext cx="743040" cy="0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6E62810-CB4B-4593-846C-7B75B9667D1A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>
            <a:off x="4507637" y="5468918"/>
            <a:ext cx="743042" cy="0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F081596C-8D5F-4CEC-9BFC-BE23196AF71A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>
            <a:off x="6314957" y="5468919"/>
            <a:ext cx="750928" cy="1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DA587EC-89FC-44E9-916C-CCD7939366D3}"/>
                  </a:ext>
                </a:extLst>
              </p:cNvPr>
              <p:cNvSpPr txBox="1"/>
              <p:nvPr/>
            </p:nvSpPr>
            <p:spPr>
              <a:xfrm>
                <a:off x="8078697" y="5242367"/>
                <a:ext cx="3725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DA587EC-89FC-44E9-916C-CCD793936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697" y="5242367"/>
                <a:ext cx="372534" cy="461665"/>
              </a:xfrm>
              <a:prstGeom prst="rect">
                <a:avLst/>
              </a:prstGeom>
              <a:blipFill>
                <a:blip r:embed="rId3"/>
                <a:stretch>
                  <a:fillRect l="-3279" r="-6557" b="-131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8CC597C-B6AF-4711-B66A-5F89B8DFE552}"/>
                  </a:ext>
                </a:extLst>
              </p:cNvPr>
              <p:cNvSpPr txBox="1"/>
              <p:nvPr/>
            </p:nvSpPr>
            <p:spPr>
              <a:xfrm>
                <a:off x="696759" y="5236890"/>
                <a:ext cx="3725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8CC597C-B6AF-4711-B66A-5F89B8DFE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59" y="5236890"/>
                <a:ext cx="37253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C329618-1361-40F6-8A3E-4128B45AA48B}"/>
                  </a:ext>
                </a:extLst>
              </p:cNvPr>
              <p:cNvSpPr txBox="1"/>
              <p:nvPr/>
            </p:nvSpPr>
            <p:spPr>
              <a:xfrm>
                <a:off x="2802979" y="4950054"/>
                <a:ext cx="5363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C329618-1361-40F6-8A3E-4128B45A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979" y="4950054"/>
                <a:ext cx="536374" cy="461665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99B6434-15F1-48B3-8FA1-8FFF72CAFE35}"/>
                  </a:ext>
                </a:extLst>
              </p:cNvPr>
              <p:cNvSpPr txBox="1"/>
              <p:nvPr/>
            </p:nvSpPr>
            <p:spPr>
              <a:xfrm>
                <a:off x="4621559" y="4942390"/>
                <a:ext cx="5363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99B6434-15F1-48B3-8FA1-8FFF72CAF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559" y="4942390"/>
                <a:ext cx="536374" cy="461665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565FC91-9590-4047-BEFB-7C3D3B27AA1C}"/>
                  </a:ext>
                </a:extLst>
              </p:cNvPr>
              <p:cNvSpPr txBox="1"/>
              <p:nvPr/>
            </p:nvSpPr>
            <p:spPr>
              <a:xfrm>
                <a:off x="6422233" y="4950054"/>
                <a:ext cx="5363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565FC91-9590-4047-BEFB-7C3D3B27A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233" y="4950054"/>
                <a:ext cx="536374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B145ACA-1AC6-4E38-A01A-E7B92CF4F141}"/>
              </a:ext>
            </a:extLst>
          </p:cNvPr>
          <p:cNvCxnSpPr>
            <a:cxnSpLocks/>
            <a:stCxn id="52" idx="2"/>
            <a:endCxn id="58" idx="3"/>
          </p:cNvCxnSpPr>
          <p:nvPr/>
        </p:nvCxnSpPr>
        <p:spPr>
          <a:xfrm>
            <a:off x="1871410" y="4538737"/>
            <a:ext cx="2220" cy="258417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6F1C9E1-8F52-4087-ABC7-BC4F526CD502}"/>
                  </a:ext>
                </a:extLst>
              </p:cNvPr>
              <p:cNvSpPr txBox="1"/>
              <p:nvPr/>
            </p:nvSpPr>
            <p:spPr>
              <a:xfrm>
                <a:off x="1560593" y="4077072"/>
                <a:ext cx="621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6F1C9E1-8F52-4087-ABC7-BC4F526CD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593" y="4077072"/>
                <a:ext cx="621634" cy="461665"/>
              </a:xfrm>
              <a:prstGeom prst="rect">
                <a:avLst/>
              </a:prstGeom>
              <a:blipFill>
                <a:blip r:embed="rId8"/>
                <a:stretch>
                  <a:fillRect l="-1961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F5500A3-F3FD-47F1-81F4-C00B05F5AFE2}"/>
              </a:ext>
            </a:extLst>
          </p:cNvPr>
          <p:cNvCxnSpPr>
            <a:cxnSpLocks/>
            <a:stCxn id="54" idx="2"/>
            <a:endCxn id="60" idx="3"/>
          </p:cNvCxnSpPr>
          <p:nvPr/>
        </p:nvCxnSpPr>
        <p:spPr>
          <a:xfrm flipH="1">
            <a:off x="3680948" y="4539096"/>
            <a:ext cx="2327" cy="258058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8A480E4-2F3A-441E-9587-48AA94ED9D11}"/>
                  </a:ext>
                </a:extLst>
              </p:cNvPr>
              <p:cNvSpPr txBox="1"/>
              <p:nvPr/>
            </p:nvSpPr>
            <p:spPr>
              <a:xfrm>
                <a:off x="3372458" y="4077431"/>
                <a:ext cx="621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8A480E4-2F3A-441E-9587-48AA94ED9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58" y="4077431"/>
                <a:ext cx="621634" cy="461665"/>
              </a:xfrm>
              <a:prstGeom prst="rect">
                <a:avLst/>
              </a:prstGeom>
              <a:blipFill>
                <a:blip r:embed="rId9"/>
                <a:stretch>
                  <a:fillRect l="-1961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15F9E69-5231-4BFB-B0B3-41B4EA9778C7}"/>
              </a:ext>
            </a:extLst>
          </p:cNvPr>
          <p:cNvCxnSpPr>
            <a:cxnSpLocks/>
            <a:stCxn id="56" idx="2"/>
            <a:endCxn id="63" idx="3"/>
          </p:cNvCxnSpPr>
          <p:nvPr/>
        </p:nvCxnSpPr>
        <p:spPr>
          <a:xfrm>
            <a:off x="5484730" y="4538737"/>
            <a:ext cx="3538" cy="258416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6E3BBBD-67BC-4202-97A7-F97557EC3182}"/>
                  </a:ext>
                </a:extLst>
              </p:cNvPr>
              <p:cNvSpPr txBox="1"/>
              <p:nvPr/>
            </p:nvSpPr>
            <p:spPr>
              <a:xfrm>
                <a:off x="5173913" y="4077072"/>
                <a:ext cx="621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6E3BBBD-67BC-4202-97A7-F97557EC3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913" y="4077072"/>
                <a:ext cx="621634" cy="461665"/>
              </a:xfrm>
              <a:prstGeom prst="rect">
                <a:avLst/>
              </a:prstGeom>
              <a:blipFill>
                <a:blip r:embed="rId10"/>
                <a:stretch>
                  <a:fillRect l="-2941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E707227-6508-495B-AB64-A6628943ACAE}"/>
              </a:ext>
            </a:extLst>
          </p:cNvPr>
          <p:cNvCxnSpPr>
            <a:cxnSpLocks/>
            <a:stCxn id="65" idx="2"/>
            <a:endCxn id="46" idx="1"/>
          </p:cNvCxnSpPr>
          <p:nvPr/>
        </p:nvCxnSpPr>
        <p:spPr>
          <a:xfrm>
            <a:off x="7541063" y="5468920"/>
            <a:ext cx="537634" cy="4280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11D9305-9A74-46B0-AFF5-45D2F3E4A027}"/>
              </a:ext>
            </a:extLst>
          </p:cNvPr>
          <p:cNvSpPr/>
          <p:nvPr/>
        </p:nvSpPr>
        <p:spPr>
          <a:xfrm rot="16200000">
            <a:off x="1201866" y="5231329"/>
            <a:ext cx="1343528" cy="475178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Conv2D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61C4761-9851-4F54-B614-5D431A1A984B}"/>
              </a:ext>
            </a:extLst>
          </p:cNvPr>
          <p:cNvSpPr/>
          <p:nvPr/>
        </p:nvSpPr>
        <p:spPr>
          <a:xfrm rot="16200000">
            <a:off x="1790966" y="5231329"/>
            <a:ext cx="1343528" cy="475178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3D56EF44-F97D-47AA-97E8-C9319F7F9919}"/>
              </a:ext>
            </a:extLst>
          </p:cNvPr>
          <p:cNvSpPr/>
          <p:nvPr/>
        </p:nvSpPr>
        <p:spPr>
          <a:xfrm rot="16200000">
            <a:off x="3009184" y="5231329"/>
            <a:ext cx="1343528" cy="475178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Conv2D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DF70410E-6A59-4E53-A788-32C7CC1FBC45}"/>
              </a:ext>
            </a:extLst>
          </p:cNvPr>
          <p:cNvSpPr/>
          <p:nvPr/>
        </p:nvSpPr>
        <p:spPr>
          <a:xfrm rot="16200000">
            <a:off x="3598284" y="5231329"/>
            <a:ext cx="1343528" cy="475178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36D5DC9-D90A-4C8E-827F-0CA83D676F9F}"/>
              </a:ext>
            </a:extLst>
          </p:cNvPr>
          <p:cNvSpPr/>
          <p:nvPr/>
        </p:nvSpPr>
        <p:spPr>
          <a:xfrm rot="16200000">
            <a:off x="4816503" y="5231329"/>
            <a:ext cx="1343530" cy="475178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B6561E0-C515-471B-9DAF-F14669514933}"/>
              </a:ext>
            </a:extLst>
          </p:cNvPr>
          <p:cNvSpPr/>
          <p:nvPr/>
        </p:nvSpPr>
        <p:spPr>
          <a:xfrm rot="16200000">
            <a:off x="5405603" y="5231330"/>
            <a:ext cx="1343530" cy="475178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9F951EB3-9C23-4A0C-8B50-21280B9037FE}"/>
              </a:ext>
            </a:extLst>
          </p:cNvPr>
          <p:cNvSpPr/>
          <p:nvPr/>
        </p:nvSpPr>
        <p:spPr>
          <a:xfrm rot="16200000">
            <a:off x="6631709" y="5231331"/>
            <a:ext cx="1343530" cy="475178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Softmax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40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Activation Buffer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84784"/>
            <a:ext cx="8208912" cy="1944216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Frequently updated</a:t>
            </a:r>
          </a:p>
          <a:p>
            <a:r>
              <a:rPr lang="en-US" altLang="ja-JP" sz="2600" dirty="0">
                <a:solidFill>
                  <a:srgbClr val="FF0000"/>
                </a:solidFill>
                <a:ea typeface="Arial Unicode MS" pitchFamily="50" charset="-127"/>
                <a:cs typeface="Arial Unicode MS" pitchFamily="50" charset="-127"/>
              </a:rPr>
              <a:t>Write latency of the buffer is critical </a:t>
            </a:r>
          </a:p>
          <a:p>
            <a:r>
              <a:rPr lang="en-US" altLang="ja-JP" sz="2400" dirty="0">
                <a:solidFill>
                  <a:schemeClr val="accent2"/>
                </a:solidFill>
                <a:ea typeface="Arial Unicode MS" pitchFamily="50" charset="-127"/>
                <a:cs typeface="Arial Unicode MS" pitchFamily="50" charset="-127"/>
              </a:rPr>
              <a:t>Activation data only needs to be maintained until the</a:t>
            </a:r>
            <a:r>
              <a:rPr lang="ko-KR" altLang="en-US" sz="2400" dirty="0">
                <a:solidFill>
                  <a:schemeClr val="accent2"/>
                </a:solidFill>
                <a:ea typeface="Arial Unicode MS" pitchFamily="50" charset="-127"/>
                <a:cs typeface="Arial Unicode MS" pitchFamily="50" charset="-127"/>
              </a:rPr>
              <a:t> </a:t>
            </a:r>
            <a:r>
              <a:rPr lang="en-US" altLang="ko-KR" sz="2400" dirty="0">
                <a:solidFill>
                  <a:schemeClr val="accent2"/>
                </a:solidFill>
                <a:ea typeface="Arial Unicode MS" pitchFamily="50" charset="-127"/>
                <a:cs typeface="Arial Unicode MS" pitchFamily="50" charset="-127"/>
              </a:rPr>
              <a:t>accelerator</a:t>
            </a:r>
            <a:r>
              <a:rPr lang="en-US" altLang="ja-JP" sz="2400" dirty="0">
                <a:solidFill>
                  <a:schemeClr val="accent2"/>
                </a:solidFill>
                <a:ea typeface="Arial Unicode MS" pitchFamily="50" charset="-127"/>
                <a:cs typeface="Arial Unicode MS" pitchFamily="50" charset="-127"/>
              </a:rPr>
              <a:t> finishes processing the current layer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10</a:t>
            </a:fld>
            <a:endParaRPr lang="en-US" altLang="ja-JP" dirty="0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8DFA795-FA46-4F24-BBCA-D47B5B019201}"/>
              </a:ext>
            </a:extLst>
          </p:cNvPr>
          <p:cNvCxnSpPr>
            <a:cxnSpLocks/>
            <a:stCxn id="46" idx="3"/>
            <a:endCxn id="17" idx="1"/>
          </p:cNvCxnSpPr>
          <p:nvPr/>
        </p:nvCxnSpPr>
        <p:spPr>
          <a:xfrm flipV="1">
            <a:off x="566898" y="5035674"/>
            <a:ext cx="557346" cy="1"/>
          </a:xfrm>
          <a:prstGeom prst="straightConnector1">
            <a:avLst/>
          </a:prstGeom>
          <a:ln w="3810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25C881F-E504-4490-82CE-A34517BB3916}"/>
              </a:ext>
            </a:extLst>
          </p:cNvPr>
          <p:cNvCxnSpPr>
            <a:cxnSpLocks/>
            <a:stCxn id="17" idx="3"/>
            <a:endCxn id="72" idx="1"/>
          </p:cNvCxnSpPr>
          <p:nvPr/>
        </p:nvCxnSpPr>
        <p:spPr>
          <a:xfrm flipV="1">
            <a:off x="2361780" y="5035612"/>
            <a:ext cx="793505" cy="62"/>
          </a:xfrm>
          <a:prstGeom prst="straightConnector1">
            <a:avLst/>
          </a:prstGeom>
          <a:ln w="3810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F5001EC-D9AE-4C2A-87BB-81EBB6C9F571}"/>
              </a:ext>
            </a:extLst>
          </p:cNvPr>
          <p:cNvCxnSpPr>
            <a:cxnSpLocks/>
            <a:stCxn id="72" idx="3"/>
            <a:endCxn id="73" idx="1"/>
          </p:cNvCxnSpPr>
          <p:nvPr/>
        </p:nvCxnSpPr>
        <p:spPr>
          <a:xfrm flipV="1">
            <a:off x="4392821" y="5035550"/>
            <a:ext cx="854468" cy="62"/>
          </a:xfrm>
          <a:prstGeom prst="straightConnector1">
            <a:avLst/>
          </a:prstGeom>
          <a:ln w="3810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A1B708E-D716-4F29-88AB-FA8A2AD04934}"/>
              </a:ext>
            </a:extLst>
          </p:cNvPr>
          <p:cNvCxnSpPr>
            <a:cxnSpLocks/>
            <a:stCxn id="73" idx="3"/>
            <a:endCxn id="80" idx="1"/>
          </p:cNvCxnSpPr>
          <p:nvPr/>
        </p:nvCxnSpPr>
        <p:spPr>
          <a:xfrm>
            <a:off x="6484825" y="5035550"/>
            <a:ext cx="815820" cy="1322"/>
          </a:xfrm>
          <a:prstGeom prst="straightConnector1">
            <a:avLst/>
          </a:prstGeom>
          <a:ln w="3810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4DF8639-EFB3-42B3-8EC1-619FEA588F77}"/>
                  </a:ext>
                </a:extLst>
              </p:cNvPr>
              <p:cNvSpPr txBox="1"/>
              <p:nvPr/>
            </p:nvSpPr>
            <p:spPr>
              <a:xfrm>
                <a:off x="8519946" y="4810319"/>
                <a:ext cx="3725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4DF8639-EFB3-42B3-8EC1-619FEA588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946" y="4810319"/>
                <a:ext cx="372534" cy="461665"/>
              </a:xfrm>
              <a:prstGeom prst="rect">
                <a:avLst/>
              </a:prstGeom>
              <a:blipFill>
                <a:blip r:embed="rId3"/>
                <a:stretch>
                  <a:fillRect l="-4918" r="-4918" b="-131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89C5015-0533-44F2-975E-2D789D9ADCA3}"/>
                  </a:ext>
                </a:extLst>
              </p:cNvPr>
              <p:cNvSpPr txBox="1"/>
              <p:nvPr/>
            </p:nvSpPr>
            <p:spPr>
              <a:xfrm>
                <a:off x="194364" y="4804842"/>
                <a:ext cx="3725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89C5015-0533-44F2-975E-2D789D9AD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4" y="4804842"/>
                <a:ext cx="37253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474E0BD-60E9-4832-A71F-65E9FA338BFA}"/>
                  </a:ext>
                </a:extLst>
              </p:cNvPr>
              <p:cNvSpPr txBox="1"/>
              <p:nvPr/>
            </p:nvSpPr>
            <p:spPr>
              <a:xfrm>
                <a:off x="2495403" y="4518006"/>
                <a:ext cx="5363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474E0BD-60E9-4832-A71F-65E9FA338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403" y="4518006"/>
                <a:ext cx="536374" cy="461665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E20684-048D-49F4-9916-E0C6678A22AA}"/>
                  </a:ext>
                </a:extLst>
              </p:cNvPr>
              <p:cNvSpPr txBox="1"/>
              <p:nvPr/>
            </p:nvSpPr>
            <p:spPr>
              <a:xfrm>
                <a:off x="4539208" y="4510342"/>
                <a:ext cx="5363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E20684-048D-49F4-9916-E0C6678A2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208" y="4510342"/>
                <a:ext cx="536374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C81BACD-E4B4-42EC-BB04-9CFB19689A6F}"/>
                  </a:ext>
                </a:extLst>
              </p:cNvPr>
              <p:cNvSpPr txBox="1"/>
              <p:nvPr/>
            </p:nvSpPr>
            <p:spPr>
              <a:xfrm>
                <a:off x="6627914" y="4518006"/>
                <a:ext cx="5363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C81BACD-E4B4-42EC-BB04-9CFB1968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914" y="4518006"/>
                <a:ext cx="536374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506BE0C-3668-4B50-83DE-6787A3E3C748}"/>
              </a:ext>
            </a:extLst>
          </p:cNvPr>
          <p:cNvCxnSpPr>
            <a:cxnSpLocks/>
            <a:stCxn id="51" idx="2"/>
            <a:endCxn id="17" idx="0"/>
          </p:cNvCxnSpPr>
          <p:nvPr/>
        </p:nvCxnSpPr>
        <p:spPr>
          <a:xfrm>
            <a:off x="1738249" y="3888825"/>
            <a:ext cx="4763" cy="282754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BBAF5F-532F-45CC-8285-FB8A95747E5C}"/>
                  </a:ext>
                </a:extLst>
              </p:cNvPr>
              <p:cNvSpPr txBox="1"/>
              <p:nvPr/>
            </p:nvSpPr>
            <p:spPr>
              <a:xfrm>
                <a:off x="1427432" y="3427160"/>
                <a:ext cx="621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BBAF5F-532F-45CC-8285-FB8A95747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432" y="3427160"/>
                <a:ext cx="621634" cy="461665"/>
              </a:xfrm>
              <a:prstGeom prst="rect">
                <a:avLst/>
              </a:prstGeom>
              <a:blipFill>
                <a:blip r:embed="rId8"/>
                <a:stretch>
                  <a:fillRect l="-1961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A777BD42-3197-41DC-8C51-3DCADEF5DC3F}"/>
              </a:ext>
            </a:extLst>
          </p:cNvPr>
          <p:cNvCxnSpPr>
            <a:cxnSpLocks/>
            <a:stCxn id="53" idx="2"/>
            <a:endCxn id="72" idx="0"/>
          </p:cNvCxnSpPr>
          <p:nvPr/>
        </p:nvCxnSpPr>
        <p:spPr>
          <a:xfrm>
            <a:off x="3769290" y="3888827"/>
            <a:ext cx="4763" cy="282690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5C06AEA-7406-4F59-8B35-7185A59718A4}"/>
                  </a:ext>
                </a:extLst>
              </p:cNvPr>
              <p:cNvSpPr txBox="1"/>
              <p:nvPr/>
            </p:nvSpPr>
            <p:spPr>
              <a:xfrm>
                <a:off x="3458473" y="3427162"/>
                <a:ext cx="621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5C06AEA-7406-4F59-8B35-7185A5971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473" y="3427162"/>
                <a:ext cx="621634" cy="461665"/>
              </a:xfrm>
              <a:prstGeom prst="rect">
                <a:avLst/>
              </a:prstGeom>
              <a:blipFill>
                <a:blip r:embed="rId9"/>
                <a:stretch>
                  <a:fillRect l="-1961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78CECD1B-B535-454A-B043-32C3F9FDC9BA}"/>
              </a:ext>
            </a:extLst>
          </p:cNvPr>
          <p:cNvCxnSpPr>
            <a:cxnSpLocks/>
            <a:stCxn id="55" idx="2"/>
            <a:endCxn id="73" idx="0"/>
          </p:cNvCxnSpPr>
          <p:nvPr/>
        </p:nvCxnSpPr>
        <p:spPr>
          <a:xfrm>
            <a:off x="5861294" y="3888826"/>
            <a:ext cx="4763" cy="282629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B1E2F72-7153-4B29-B2FB-2875A3591726}"/>
                  </a:ext>
                </a:extLst>
              </p:cNvPr>
              <p:cNvSpPr txBox="1"/>
              <p:nvPr/>
            </p:nvSpPr>
            <p:spPr>
              <a:xfrm>
                <a:off x="5550477" y="3427161"/>
                <a:ext cx="621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B1E2F72-7153-4B29-B2FB-2875A3591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477" y="3427161"/>
                <a:ext cx="621634" cy="461665"/>
              </a:xfrm>
              <a:prstGeom prst="rect">
                <a:avLst/>
              </a:prstGeom>
              <a:blipFill>
                <a:blip r:embed="rId10"/>
                <a:stretch>
                  <a:fillRect l="-2970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CF90762-84DD-4A49-8BEB-F65DF112774D}"/>
              </a:ext>
            </a:extLst>
          </p:cNvPr>
          <p:cNvCxnSpPr>
            <a:cxnSpLocks/>
            <a:stCxn id="80" idx="3"/>
            <a:endCxn id="45" idx="1"/>
          </p:cNvCxnSpPr>
          <p:nvPr/>
        </p:nvCxnSpPr>
        <p:spPr>
          <a:xfrm>
            <a:off x="8001317" y="5036872"/>
            <a:ext cx="518629" cy="4280"/>
          </a:xfrm>
          <a:prstGeom prst="straightConnector1">
            <a:avLst/>
          </a:prstGeom>
          <a:ln w="3810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CA63BFA-95F5-4963-B94B-2657438FFFFC}"/>
              </a:ext>
            </a:extLst>
          </p:cNvPr>
          <p:cNvSpPr/>
          <p:nvPr/>
        </p:nvSpPr>
        <p:spPr>
          <a:xfrm rot="16200000">
            <a:off x="834944" y="4832384"/>
            <a:ext cx="1343528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Conv2D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DF2A337-3C67-48BD-BBF4-D2DCA629DCD1}"/>
              </a:ext>
            </a:extLst>
          </p:cNvPr>
          <p:cNvSpPr/>
          <p:nvPr/>
        </p:nvSpPr>
        <p:spPr>
          <a:xfrm rot="16200000">
            <a:off x="1313344" y="4832384"/>
            <a:ext cx="1343528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BD639CD6-B462-43E7-A9E9-0EAFEBED3B36}"/>
              </a:ext>
            </a:extLst>
          </p:cNvPr>
          <p:cNvSpPr/>
          <p:nvPr/>
        </p:nvSpPr>
        <p:spPr>
          <a:xfrm rot="16200000">
            <a:off x="2867487" y="4832384"/>
            <a:ext cx="1343528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Conv2D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355B31E-B70B-471F-B4D7-8050DFBFBFAB}"/>
              </a:ext>
            </a:extLst>
          </p:cNvPr>
          <p:cNvSpPr/>
          <p:nvPr/>
        </p:nvSpPr>
        <p:spPr>
          <a:xfrm rot="16200000">
            <a:off x="3345887" y="4832384"/>
            <a:ext cx="1343528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E67EB69C-D7B6-4D66-8DAB-67B127BF3D2C}"/>
              </a:ext>
            </a:extLst>
          </p:cNvPr>
          <p:cNvSpPr/>
          <p:nvPr/>
        </p:nvSpPr>
        <p:spPr>
          <a:xfrm rot="16200000">
            <a:off x="4962838" y="4832384"/>
            <a:ext cx="1343530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88B504F-9311-413E-9F12-F75093661FB8}"/>
              </a:ext>
            </a:extLst>
          </p:cNvPr>
          <p:cNvSpPr/>
          <p:nvPr/>
        </p:nvSpPr>
        <p:spPr>
          <a:xfrm rot="16200000">
            <a:off x="5441238" y="4832385"/>
            <a:ext cx="1343530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0BA9B7D5-1D5A-4DC1-9855-A228F83A2203}"/>
              </a:ext>
            </a:extLst>
          </p:cNvPr>
          <p:cNvSpPr/>
          <p:nvPr/>
        </p:nvSpPr>
        <p:spPr>
          <a:xfrm rot="16200000">
            <a:off x="6979216" y="4832386"/>
            <a:ext cx="1343530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Softmax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7D4CE46-60E1-4BC1-B72E-E7CA4366F6E4}"/>
              </a:ext>
            </a:extLst>
          </p:cNvPr>
          <p:cNvSpPr/>
          <p:nvPr/>
        </p:nvSpPr>
        <p:spPr bwMode="auto">
          <a:xfrm>
            <a:off x="1124244" y="4171579"/>
            <a:ext cx="1237536" cy="1728189"/>
          </a:xfrm>
          <a:prstGeom prst="roundRect">
            <a:avLst/>
          </a:prstGeom>
          <a:noFill/>
          <a:ln w="508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2F8999A5-70C9-41F4-A872-5622F1EB3448}"/>
              </a:ext>
            </a:extLst>
          </p:cNvPr>
          <p:cNvSpPr/>
          <p:nvPr/>
        </p:nvSpPr>
        <p:spPr bwMode="auto">
          <a:xfrm>
            <a:off x="3155285" y="4171517"/>
            <a:ext cx="1237536" cy="1728189"/>
          </a:xfrm>
          <a:prstGeom prst="roundRect">
            <a:avLst/>
          </a:prstGeom>
          <a:noFill/>
          <a:ln w="508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18A2FEF-A172-4D96-8242-E5734C65C940}"/>
              </a:ext>
            </a:extLst>
          </p:cNvPr>
          <p:cNvSpPr/>
          <p:nvPr/>
        </p:nvSpPr>
        <p:spPr bwMode="auto">
          <a:xfrm>
            <a:off x="5247289" y="4171455"/>
            <a:ext cx="1237536" cy="1728189"/>
          </a:xfrm>
          <a:prstGeom prst="roundRect">
            <a:avLst/>
          </a:prstGeom>
          <a:noFill/>
          <a:ln w="508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93528383-CB46-4116-9691-422B69CFDB1B}"/>
              </a:ext>
            </a:extLst>
          </p:cNvPr>
          <p:cNvSpPr/>
          <p:nvPr/>
        </p:nvSpPr>
        <p:spPr bwMode="auto">
          <a:xfrm>
            <a:off x="7300645" y="4172777"/>
            <a:ext cx="700672" cy="1728189"/>
          </a:xfrm>
          <a:prstGeom prst="roundRect">
            <a:avLst>
              <a:gd name="adj" fmla="val 24144"/>
            </a:avLst>
          </a:prstGeom>
          <a:noFill/>
          <a:ln w="508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1455511-167D-445A-AB75-2DE4107FEBC5}"/>
              </a:ext>
            </a:extLst>
          </p:cNvPr>
          <p:cNvSpPr txBox="1"/>
          <p:nvPr/>
        </p:nvSpPr>
        <p:spPr>
          <a:xfrm>
            <a:off x="1214904" y="593027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Layer 0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8AD890-AFC4-4C1D-B3DA-045384B88E39}"/>
              </a:ext>
            </a:extLst>
          </p:cNvPr>
          <p:cNvSpPr txBox="1"/>
          <p:nvPr/>
        </p:nvSpPr>
        <p:spPr>
          <a:xfrm>
            <a:off x="3273000" y="593180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Layer 1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EA0C018-815B-4EA4-BADB-AE0980893A6A}"/>
              </a:ext>
            </a:extLst>
          </p:cNvPr>
          <p:cNvSpPr txBox="1"/>
          <p:nvPr/>
        </p:nvSpPr>
        <p:spPr>
          <a:xfrm>
            <a:off x="5363650" y="594076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Layer 2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A3747D-854F-4992-9C5A-018D1E74360E}"/>
              </a:ext>
            </a:extLst>
          </p:cNvPr>
          <p:cNvSpPr txBox="1"/>
          <p:nvPr/>
        </p:nvSpPr>
        <p:spPr>
          <a:xfrm>
            <a:off x="7154691" y="592987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Layer 3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7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FA461-43D4-4A1C-A101-A7F4C1E1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Lifetime of Activation Data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2BFEC7-9824-4F8B-AB0F-9FB3AF6E9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D12E6A-201C-412F-81B9-107A03B231BF}" type="slidenum">
              <a:rPr lang="ja-JP" altLang="en-US" smtClean="0"/>
              <a:pPr>
                <a:defRPr/>
              </a:pPr>
              <a:t>11</a:t>
            </a:fld>
            <a:endParaRPr lang="en-US" altLang="ja-JP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893827-91B2-4876-B9C5-6EA5A9B4A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990696"/>
            <a:ext cx="5760640" cy="3253294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2321ABC4-DAF5-4A62-A474-431997F46B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1368152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Lifetime of the activation data is short (&lt; 2ms)</a:t>
            </a:r>
          </a:p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Activation buffer needs to maintain the data only for 2ms</a:t>
            </a:r>
            <a:endParaRPr lang="en-US" altLang="ja-JP" sz="2400" dirty="0"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7821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Write Optimized Buffer (</a:t>
            </a:r>
            <a:r>
              <a:rPr lang="en-US" altLang="ja-JP" sz="4000" dirty="0" err="1">
                <a:ea typeface="Arial Unicode MS" pitchFamily="50" charset="-127"/>
                <a:cs typeface="Arial Unicode MS" pitchFamily="50" charset="-127"/>
              </a:rPr>
              <a:t>WoB</a:t>
            </a: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)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1512168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Conventional MRAM has long write latency</a:t>
            </a:r>
          </a:p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Length of write pulse is highly correlated to the retention time of the STT-MRAM cell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12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B9497D-F753-4B60-ACC1-7EA744E7DF5B}"/>
              </a:ext>
            </a:extLst>
          </p:cNvPr>
          <p:cNvSpPr txBox="1"/>
          <p:nvPr/>
        </p:nvSpPr>
        <p:spPr>
          <a:xfrm>
            <a:off x="594246" y="3429000"/>
            <a:ext cx="7957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How to reduce the length of write pulse?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0F9ABC07-9149-4225-91CC-8EA13885C91E}"/>
              </a:ext>
            </a:extLst>
          </p:cNvPr>
          <p:cNvSpPr/>
          <p:nvPr/>
        </p:nvSpPr>
        <p:spPr bwMode="auto">
          <a:xfrm rot="5400000">
            <a:off x="4262326" y="4354016"/>
            <a:ext cx="619348" cy="41094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81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7CD58A-C684-4895-9F41-9195F7D2F64C}"/>
              </a:ext>
            </a:extLst>
          </p:cNvPr>
          <p:cNvSpPr txBox="1"/>
          <p:nvPr/>
        </p:nvSpPr>
        <p:spPr>
          <a:xfrm>
            <a:off x="593304" y="5085184"/>
            <a:ext cx="7957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Sacrifice the retention time of the cell</a:t>
            </a:r>
          </a:p>
        </p:txBody>
      </p:sp>
    </p:spTree>
    <p:extLst>
      <p:ext uri="{BB962C8B-B14F-4D97-AF65-F5344CB8AC3E}">
        <p14:creationId xmlns:p14="http://schemas.microsoft.com/office/powerpoint/2010/main" val="244427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Write Optimized Buffer (</a:t>
            </a:r>
            <a:r>
              <a:rPr lang="en-US" altLang="ja-JP" sz="4000" dirty="0" err="1">
                <a:ea typeface="Arial Unicode MS" pitchFamily="50" charset="-127"/>
                <a:cs typeface="Arial Unicode MS" pitchFamily="50" charset="-127"/>
              </a:rPr>
              <a:t>WoB</a:t>
            </a: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)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85800" y="4123072"/>
                <a:ext cx="7772400" cy="1080120"/>
              </a:xfrm>
            </p:spPr>
            <p:txBody>
              <a:bodyPr/>
              <a:lstStyle/>
              <a:p>
                <a:r>
                  <a:rPr lang="en-US" altLang="ja-JP" sz="2600" dirty="0">
                    <a:ea typeface="Arial Unicode MS" pitchFamily="50" charset="-127"/>
                    <a:cs typeface="Arial Unicode MS" pitchFamily="50" charset="-127"/>
                  </a:rPr>
                  <a:t>The </a:t>
                </a:r>
                <a:r>
                  <a:rPr lang="en-US" altLang="ja-JP" sz="260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thermal stability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6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50" charset="-127"/>
                        <a:cs typeface="Arial Unicode MS" pitchFamily="50" charset="-127"/>
                      </a:rPr>
                      <m:t>Δ</m:t>
                    </m:r>
                  </m:oMath>
                </a14:m>
                <a:r>
                  <a:rPr lang="en-US" altLang="ja-JP" sz="260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 </a:t>
                </a:r>
                <a:r>
                  <a:rPr lang="en-US" altLang="ja-JP" sz="2600" dirty="0">
                    <a:ea typeface="Arial Unicode MS" pitchFamily="50" charset="-127"/>
                    <a:cs typeface="Arial Unicode MS" pitchFamily="50" charset="-127"/>
                  </a:rPr>
                  <a:t>decreases as the </a:t>
                </a:r>
                <a:r>
                  <a:rPr lang="en-US" altLang="ja-JP" sz="260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volume of free layer V </a:t>
                </a:r>
                <a:r>
                  <a:rPr lang="en-US" altLang="ja-JP" sz="2600" dirty="0">
                    <a:ea typeface="Arial Unicode MS" pitchFamily="50" charset="-127"/>
                    <a:cs typeface="Arial Unicode MS" pitchFamily="50" charset="-127"/>
                  </a:rPr>
                  <a:t>decreases</a:t>
                </a:r>
                <a:endParaRPr lang="ko-KR" altLang="en-US" sz="2600" b="0" dirty="0"/>
              </a:p>
            </p:txBody>
          </p:sp>
        </mc:Choice>
        <mc:Fallback>
          <p:sp>
            <p:nvSpPr>
              <p:cNvPr id="307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4123072"/>
                <a:ext cx="7772400" cy="1080120"/>
              </a:xfrm>
              <a:blipFill>
                <a:blip r:embed="rId2"/>
                <a:stretch>
                  <a:fillRect l="-1255" t="-50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13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E8D8F0-0D7A-4528-914B-719A73A57E82}"/>
                  </a:ext>
                </a:extLst>
              </p:cNvPr>
              <p:cNvSpPr txBox="1"/>
              <p:nvPr/>
            </p:nvSpPr>
            <p:spPr>
              <a:xfrm>
                <a:off x="3002819" y="5275200"/>
                <a:ext cx="3138360" cy="877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US" altLang="ko-KR" sz="28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0" smtClean="0">
                                  <a:latin typeface="Cambria Math" panose="02040503050406030204" pitchFamily="18" charset="0"/>
                                </a:rPr>
                                <m:t>𝐄</m:t>
                              </m:r>
                            </m:e>
                            <m:sub>
                              <m:r>
                                <a:rPr lang="en-US" altLang="ko-KR" sz="2800" b="1" i="0" smtClean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altLang="ko-K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  <m:r>
                            <a:rPr lang="en-US" altLang="ko-K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E8D8F0-0D7A-4528-914B-719A73A57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819" y="5275200"/>
                <a:ext cx="3138360" cy="87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09180E-A5B8-4D09-BA60-43BC20B70663}"/>
                  </a:ext>
                </a:extLst>
              </p:cNvPr>
              <p:cNvSpPr txBox="1"/>
              <p:nvPr/>
            </p:nvSpPr>
            <p:spPr>
              <a:xfrm>
                <a:off x="2502169" y="2683932"/>
                <a:ext cx="4139659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ko-K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altLang="ko-K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ko-KR" sz="2800" b="1" i="0" smtClean="0">
                          <a:latin typeface="Cambria Math" panose="02040503050406030204" pitchFamily="18" charset="0"/>
                        </a:rPr>
                        <m:t>𝐞𝐱𝐩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d>
                            <m:dPr>
                              <m:ctrlP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28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800" b="1" i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r>
                                        <a:rPr lang="en-US" altLang="ko-KR" sz="2800" b="1" i="0" smtClean="0">
                                          <a:latin typeface="Cambria Math" panose="02040503050406030204" pitchFamily="18" charset="0"/>
                                        </a:rPr>
                                        <m:t>𝐌𝐓𝐉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800" b="1" i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r>
                                        <a:rPr lang="en-US" altLang="ko-KR" sz="2800" b="1" i="0" smtClean="0">
                                          <a:latin typeface="Cambria Math" panose="02040503050406030204" pitchFamily="18" charset="0"/>
                                        </a:rPr>
                                        <m:t>𝐜𝟎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09180E-A5B8-4D09-BA60-43BC20B70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169" y="2683932"/>
                <a:ext cx="4139659" cy="9681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3A2E0D2E-6AD9-4D3B-88E8-154CB57BC9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213" y="1484784"/>
                <a:ext cx="7772400" cy="10801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b="1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b="1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altLang="ja-JP" sz="2600" kern="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Length of the write pulse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i="1" kern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al Unicode MS" pitchFamily="50" charset="-127"/>
                            <a:cs typeface="Arial Unicode MS" pitchFamily="50" charset="-127"/>
                          </a:rPr>
                        </m:ctrlPr>
                      </m:sSubPr>
                      <m:e>
                        <m:r>
                          <a:rPr lang="en-US" altLang="ja-JP" sz="2600" i="1" kern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al Unicode MS" pitchFamily="50" charset="-127"/>
                            <a:cs typeface="Arial Unicode MS" pitchFamily="50" charset="-127"/>
                          </a:rPr>
                          <m:t>𝒕</m:t>
                        </m:r>
                      </m:e>
                      <m:sub>
                        <m:r>
                          <a:rPr lang="en-US" altLang="ja-JP" sz="2600" i="1" kern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al Unicode MS" pitchFamily="50" charset="-127"/>
                            <a:cs typeface="Arial Unicode MS" pitchFamily="50" charset="-127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altLang="ja-JP" sz="2600" kern="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 </a:t>
                </a:r>
                <a:r>
                  <a:rPr lang="en-US" altLang="ja-JP" sz="2600" kern="0" dirty="0">
                    <a:ea typeface="Arial Unicode MS" pitchFamily="50" charset="-127"/>
                    <a:cs typeface="Arial Unicode MS" pitchFamily="50" charset="-127"/>
                  </a:rPr>
                  <a:t>is proportional to the </a:t>
                </a:r>
                <a:r>
                  <a:rPr lang="en-US" altLang="ja-JP" sz="2600" kern="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thermal stability </a:t>
                </a:r>
                <a14:m>
                  <m:oMath xmlns:m="http://schemas.openxmlformats.org/officeDocument/2006/math">
                    <m:r>
                      <a:rPr lang="en-US" altLang="ja-JP" sz="2600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50" charset="-127"/>
                        <a:cs typeface="Arial Unicode MS" pitchFamily="50" charset="-127"/>
                      </a:rPr>
                      <m:t>𝚫</m:t>
                    </m:r>
                  </m:oMath>
                </a14:m>
                <a:endParaRPr lang="en-US" altLang="ja-JP" sz="2600" kern="0" dirty="0">
                  <a:ea typeface="Arial Unicode MS" pitchFamily="50" charset="-127"/>
                  <a:cs typeface="Arial Unicode MS" pitchFamily="50" charset="-127"/>
                </a:endParaRPr>
              </a:p>
            </p:txBody>
          </p:sp>
        </mc:Choice>
        <mc:Fallback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3A2E0D2E-6AD9-4D3B-88E8-154CB57BC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213" y="1484784"/>
                <a:ext cx="7772400" cy="1080120"/>
              </a:xfrm>
              <a:prstGeom prst="rect">
                <a:avLst/>
              </a:prstGeom>
              <a:blipFill>
                <a:blip r:embed="rId5"/>
                <a:stretch>
                  <a:fillRect l="-1176" t="-6215" r="-78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09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Write Optimized Buffer (</a:t>
            </a:r>
            <a:r>
              <a:rPr lang="en-US" altLang="ja-JP" sz="4000" dirty="0" err="1">
                <a:ea typeface="Arial Unicode MS" pitchFamily="50" charset="-127"/>
                <a:cs typeface="Arial Unicode MS" pitchFamily="50" charset="-127"/>
              </a:rPr>
              <a:t>WoB</a:t>
            </a: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)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85800" y="1484784"/>
                <a:ext cx="7772400" cy="936104"/>
              </a:xfrm>
            </p:spPr>
            <p:txBody>
              <a:bodyPr/>
              <a:lstStyle/>
              <a:p>
                <a:r>
                  <a:rPr lang="en-US" altLang="ja-JP" sz="2600" dirty="0">
                    <a:ea typeface="Arial Unicode MS" pitchFamily="50" charset="-127"/>
                    <a:cs typeface="Arial Unicode MS" pitchFamily="50" charset="-127"/>
                  </a:rPr>
                  <a:t>Smaller the </a:t>
                </a:r>
                <a:r>
                  <a:rPr lang="en-US" altLang="ja-JP" sz="260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thermal stability </a:t>
                </a:r>
                <a14:m>
                  <m:oMath xmlns:m="http://schemas.openxmlformats.org/officeDocument/2006/math">
                    <m:r>
                      <a:rPr lang="en-US" altLang="ja-JP" sz="26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50" charset="-127"/>
                        <a:cs typeface="Arial Unicode MS" pitchFamily="50" charset="-127"/>
                      </a:rPr>
                      <m:t>𝚫</m:t>
                    </m:r>
                  </m:oMath>
                </a14:m>
                <a:r>
                  <a:rPr lang="en-US" altLang="ja-JP" sz="260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 </a:t>
                </a:r>
                <a:r>
                  <a:rPr lang="en-US" altLang="ja-JP" sz="2600" dirty="0">
                    <a:ea typeface="Arial Unicode MS" pitchFamily="50" charset="-127"/>
                    <a:cs typeface="Arial Unicode MS" pitchFamily="50" charset="-127"/>
                  </a:rPr>
                  <a:t>shorter the </a:t>
                </a:r>
                <a:r>
                  <a:rPr lang="en-US" altLang="ja-JP" sz="260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retention time </a:t>
                </a:r>
                <a14:m>
                  <m:oMath xmlns:m="http://schemas.openxmlformats.org/officeDocument/2006/math">
                    <m:r>
                      <a:rPr lang="en-US" altLang="ja-JP" sz="2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50" charset="-127"/>
                        <a:cs typeface="Arial Unicode MS" pitchFamily="50" charset="-127"/>
                      </a:rPr>
                      <m:t>𝒕</m:t>
                    </m:r>
                  </m:oMath>
                </a14:m>
                <a:endParaRPr lang="en-US" altLang="ja-JP" sz="2600" dirty="0">
                  <a:ea typeface="Arial Unicode MS" pitchFamily="50" charset="-127"/>
                  <a:cs typeface="Arial Unicode MS" pitchFamily="50" charset="-127"/>
                </a:endParaRPr>
              </a:p>
            </p:txBody>
          </p:sp>
        </mc:Choice>
        <mc:Fallback xmlns="">
          <p:sp>
            <p:nvSpPr>
              <p:cNvPr id="307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484784"/>
                <a:ext cx="7772400" cy="936104"/>
              </a:xfrm>
              <a:blipFill>
                <a:blip r:embed="rId3"/>
                <a:stretch>
                  <a:fillRect l="-1255" t="-6536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14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558B568-8016-4407-A5F7-9039295F7EC4}"/>
                  </a:ext>
                </a:extLst>
              </p:cNvPr>
              <p:cNvSpPr txBox="1"/>
              <p:nvPr/>
            </p:nvSpPr>
            <p:spPr>
              <a:xfrm>
                <a:off x="3804546" y="2366439"/>
                <a:ext cx="1534907" cy="8849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ko-K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ko-KR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</m:sup>
                      </m:s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558B568-8016-4407-A5F7-9039295F7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546" y="2366439"/>
                <a:ext cx="1534907" cy="8849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">
            <a:extLst>
              <a:ext uri="{FF2B5EF4-FFF2-40B4-BE49-F238E27FC236}">
                <a16:creationId xmlns:a16="http://schemas.microsoft.com/office/drawing/2014/main" id="{FEB16CB6-2F38-4242-A027-545E5BFEC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429000"/>
            <a:ext cx="777240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ja-JP" sz="2600" kern="0" dirty="0">
                <a:ea typeface="Arial Unicode MS" pitchFamily="50" charset="-127"/>
                <a:cs typeface="Arial Unicode MS" pitchFamily="50" charset="-127"/>
              </a:rPr>
              <a:t>Short retention time </a:t>
            </a:r>
            <a:r>
              <a:rPr lang="en-US" altLang="ko-KR" sz="2600" kern="0" dirty="0">
                <a:ea typeface="Arial Unicode MS" pitchFamily="50" charset="-127"/>
                <a:cs typeface="Arial Unicode MS" pitchFamily="50" charset="-127"/>
              </a:rPr>
              <a:t>of the </a:t>
            </a:r>
            <a:r>
              <a:rPr lang="en-US" altLang="ja-JP" sz="2600" kern="0" dirty="0">
                <a:ea typeface="Arial Unicode MS" pitchFamily="50" charset="-127"/>
                <a:cs typeface="Arial Unicode MS" pitchFamily="50" charset="-127"/>
              </a:rPr>
              <a:t>buffer does not matter for the activation data because it is frequently updated</a:t>
            </a:r>
          </a:p>
          <a:p>
            <a:r>
              <a:rPr lang="en-US" altLang="ja-JP" sz="2600" kern="0" dirty="0">
                <a:solidFill>
                  <a:srgbClr val="FF0000"/>
                </a:solidFill>
                <a:ea typeface="Arial Unicode MS" pitchFamily="50" charset="-127"/>
                <a:cs typeface="Arial Unicode MS" pitchFamily="50" charset="-127"/>
              </a:rPr>
              <a:t>Decrease the retention time at the extent of the lifespan of the activation data</a:t>
            </a:r>
          </a:p>
          <a:p>
            <a:endParaRPr lang="en-US" altLang="ja-JP" sz="2600" kern="0" dirty="0"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309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Write Optimized Buffer (</a:t>
            </a:r>
            <a:r>
              <a:rPr lang="en-US" altLang="ja-JP" sz="4000" dirty="0" err="1">
                <a:ea typeface="Arial Unicode MS" pitchFamily="50" charset="-127"/>
                <a:cs typeface="Arial Unicode MS" pitchFamily="50" charset="-127"/>
              </a:rPr>
              <a:t>WoB</a:t>
            </a: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)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15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B9497D-F753-4B60-ACC1-7EA744E7DF5B}"/>
              </a:ext>
            </a:extLst>
          </p:cNvPr>
          <p:cNvSpPr txBox="1"/>
          <p:nvPr/>
        </p:nvSpPr>
        <p:spPr>
          <a:xfrm>
            <a:off x="593304" y="3206933"/>
            <a:ext cx="7957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Decrease the volume of free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31B39-E2DC-4432-920E-15097438B63B}"/>
              </a:ext>
            </a:extLst>
          </p:cNvPr>
          <p:cNvSpPr txBox="1"/>
          <p:nvPr/>
        </p:nvSpPr>
        <p:spPr>
          <a:xfrm>
            <a:off x="593304" y="1628800"/>
            <a:ext cx="7957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How to reduce the length of write pulse?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D6A87F28-37B3-4A2A-85B1-D8AA648A3257}"/>
              </a:ext>
            </a:extLst>
          </p:cNvPr>
          <p:cNvSpPr/>
          <p:nvPr/>
        </p:nvSpPr>
        <p:spPr bwMode="auto">
          <a:xfrm rot="5400000">
            <a:off x="4262326" y="2527106"/>
            <a:ext cx="619348" cy="41094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81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3A388A12-9845-417E-8777-52FA30C75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7584" y="4293096"/>
            <a:ext cx="7488832" cy="191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1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Weight Buffer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1872208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Remains unchanged</a:t>
            </a:r>
          </a:p>
          <a:p>
            <a:r>
              <a:rPr lang="en-US" altLang="ja-JP" sz="2600" dirty="0">
                <a:solidFill>
                  <a:srgbClr val="FF0000"/>
                </a:solidFill>
                <a:ea typeface="Arial Unicode MS" pitchFamily="50" charset="-127"/>
                <a:cs typeface="Arial Unicode MS" pitchFamily="50" charset="-127"/>
              </a:rPr>
              <a:t>Capacity of the buffer is critical</a:t>
            </a:r>
          </a:p>
          <a:p>
            <a:r>
              <a:rPr lang="en-US" altLang="ja-JP" sz="2400" dirty="0">
                <a:solidFill>
                  <a:srgbClr val="0000FF"/>
                </a:solidFill>
                <a:ea typeface="Arial Unicode MS" pitchFamily="50" charset="-127"/>
                <a:cs typeface="Arial Unicode MS" pitchFamily="50" charset="-127"/>
              </a:rPr>
              <a:t>If it is available to load all the weight to the buffer, the buffer always hold the same data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16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7ABEB19-18D9-4987-BD1F-E70E786A3144}"/>
              </a:ext>
            </a:extLst>
          </p:cNvPr>
          <p:cNvCxnSpPr>
            <a:cxnSpLocks/>
            <a:stCxn id="34" idx="3"/>
            <a:endCxn id="52" idx="1"/>
          </p:cNvCxnSpPr>
          <p:nvPr/>
        </p:nvCxnSpPr>
        <p:spPr>
          <a:xfrm flipV="1">
            <a:off x="566898" y="5035674"/>
            <a:ext cx="552583" cy="1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91BDD03-7183-4E91-BC27-D62D53ABD006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 flipV="1">
            <a:off x="2357017" y="5035612"/>
            <a:ext cx="793505" cy="62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19A2377-0E61-4259-81D3-9F917D1251EA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4388058" y="5035550"/>
            <a:ext cx="854468" cy="62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D9AB4DF-8854-463B-A2A5-09FAA18E8471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6480062" y="5035550"/>
            <a:ext cx="820583" cy="1322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958274-DBC2-4FA9-8EC8-D5FD781253B6}"/>
                  </a:ext>
                </a:extLst>
              </p:cNvPr>
              <p:cNvSpPr txBox="1"/>
              <p:nvPr/>
            </p:nvSpPr>
            <p:spPr>
              <a:xfrm>
                <a:off x="8519946" y="4810319"/>
                <a:ext cx="3725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958274-DBC2-4FA9-8EC8-D5FD78125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946" y="4810319"/>
                <a:ext cx="372534" cy="461665"/>
              </a:xfrm>
              <a:prstGeom prst="rect">
                <a:avLst/>
              </a:prstGeom>
              <a:blipFill>
                <a:blip r:embed="rId2"/>
                <a:stretch>
                  <a:fillRect l="-4918" r="-4918" b="-131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296DA1-1C06-4B1A-80E6-A7AC6EBC643D}"/>
                  </a:ext>
                </a:extLst>
              </p:cNvPr>
              <p:cNvSpPr txBox="1"/>
              <p:nvPr/>
            </p:nvSpPr>
            <p:spPr>
              <a:xfrm>
                <a:off x="194364" y="4804842"/>
                <a:ext cx="3725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296DA1-1C06-4B1A-80E6-A7AC6EBC6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4" y="4804842"/>
                <a:ext cx="37253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965EA5-3F27-4376-873D-59EF1B236578}"/>
                  </a:ext>
                </a:extLst>
              </p:cNvPr>
              <p:cNvSpPr txBox="1"/>
              <p:nvPr/>
            </p:nvSpPr>
            <p:spPr>
              <a:xfrm>
                <a:off x="2495403" y="4518006"/>
                <a:ext cx="5363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3965EA5-3F27-4376-873D-59EF1B236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403" y="4518006"/>
                <a:ext cx="536374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4263400-FE31-41DB-8720-5AFBCFF8ECC0}"/>
                  </a:ext>
                </a:extLst>
              </p:cNvPr>
              <p:cNvSpPr txBox="1"/>
              <p:nvPr/>
            </p:nvSpPr>
            <p:spPr>
              <a:xfrm>
                <a:off x="4539208" y="4510342"/>
                <a:ext cx="5363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4263400-FE31-41DB-8720-5AFBCFF8E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208" y="4510342"/>
                <a:ext cx="536374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781F2A-DBCC-45B5-A4CC-40D3F1FCC4F9}"/>
                  </a:ext>
                </a:extLst>
              </p:cNvPr>
              <p:cNvSpPr txBox="1"/>
              <p:nvPr/>
            </p:nvSpPr>
            <p:spPr>
              <a:xfrm>
                <a:off x="6627914" y="4518006"/>
                <a:ext cx="5363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781F2A-DBCC-45B5-A4CC-40D3F1FCC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914" y="4518006"/>
                <a:ext cx="536374" cy="461665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4D83688-C99A-46C2-A56F-5FF38DA49529}"/>
              </a:ext>
            </a:extLst>
          </p:cNvPr>
          <p:cNvCxnSpPr>
            <a:cxnSpLocks/>
            <a:stCxn id="39" idx="2"/>
            <a:endCxn id="52" idx="0"/>
          </p:cNvCxnSpPr>
          <p:nvPr/>
        </p:nvCxnSpPr>
        <p:spPr>
          <a:xfrm>
            <a:off x="1738249" y="3888826"/>
            <a:ext cx="0" cy="282753"/>
          </a:xfrm>
          <a:prstGeom prst="straightConnector1">
            <a:avLst/>
          </a:prstGeom>
          <a:ln w="3810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407BB93-4FEC-4C03-8D5A-D2DF4BF07655}"/>
                  </a:ext>
                </a:extLst>
              </p:cNvPr>
              <p:cNvSpPr txBox="1"/>
              <p:nvPr/>
            </p:nvSpPr>
            <p:spPr>
              <a:xfrm>
                <a:off x="1427432" y="3427161"/>
                <a:ext cx="621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407BB93-4FEC-4C03-8D5A-D2DF4BF07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432" y="3427161"/>
                <a:ext cx="621634" cy="461665"/>
              </a:xfrm>
              <a:prstGeom prst="rect">
                <a:avLst/>
              </a:prstGeom>
              <a:blipFill>
                <a:blip r:embed="rId7"/>
                <a:stretch>
                  <a:fillRect l="-1961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E9C904A-03C2-45B7-B92D-00FA88D28392}"/>
              </a:ext>
            </a:extLst>
          </p:cNvPr>
          <p:cNvCxnSpPr>
            <a:cxnSpLocks/>
            <a:stCxn id="41" idx="2"/>
            <a:endCxn id="53" idx="0"/>
          </p:cNvCxnSpPr>
          <p:nvPr/>
        </p:nvCxnSpPr>
        <p:spPr>
          <a:xfrm>
            <a:off x="3769290" y="3888827"/>
            <a:ext cx="0" cy="282690"/>
          </a:xfrm>
          <a:prstGeom prst="straightConnector1">
            <a:avLst/>
          </a:prstGeom>
          <a:ln w="3810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6E70C85-66CC-4365-8545-7547DACF2F8B}"/>
                  </a:ext>
                </a:extLst>
              </p:cNvPr>
              <p:cNvSpPr txBox="1"/>
              <p:nvPr/>
            </p:nvSpPr>
            <p:spPr>
              <a:xfrm>
                <a:off x="3458473" y="3427162"/>
                <a:ext cx="621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6E70C85-66CC-4365-8545-7547DACF2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473" y="3427162"/>
                <a:ext cx="621634" cy="461665"/>
              </a:xfrm>
              <a:prstGeom prst="rect">
                <a:avLst/>
              </a:prstGeom>
              <a:blipFill>
                <a:blip r:embed="rId8"/>
                <a:stretch>
                  <a:fillRect l="-1961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99AFA67-119E-4122-BA5C-40366C9CC746}"/>
              </a:ext>
            </a:extLst>
          </p:cNvPr>
          <p:cNvCxnSpPr>
            <a:cxnSpLocks/>
            <a:stCxn id="43" idx="2"/>
            <a:endCxn id="54" idx="0"/>
          </p:cNvCxnSpPr>
          <p:nvPr/>
        </p:nvCxnSpPr>
        <p:spPr>
          <a:xfrm>
            <a:off x="5861294" y="3888826"/>
            <a:ext cx="0" cy="282629"/>
          </a:xfrm>
          <a:prstGeom prst="straightConnector1">
            <a:avLst/>
          </a:prstGeom>
          <a:ln w="3810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F82A1B3-ADF3-4AA7-B8F1-D1B2D56FC28F}"/>
                  </a:ext>
                </a:extLst>
              </p:cNvPr>
              <p:cNvSpPr txBox="1"/>
              <p:nvPr/>
            </p:nvSpPr>
            <p:spPr>
              <a:xfrm>
                <a:off x="5550477" y="3427161"/>
                <a:ext cx="621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F82A1B3-ADF3-4AA7-B8F1-D1B2D56FC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477" y="3427161"/>
                <a:ext cx="621634" cy="461665"/>
              </a:xfrm>
              <a:prstGeom prst="rect">
                <a:avLst/>
              </a:prstGeom>
              <a:blipFill>
                <a:blip r:embed="rId9"/>
                <a:stretch>
                  <a:fillRect l="-2970"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2C7D1FB-C965-4A76-B47B-9A9070A96007}"/>
              </a:ext>
            </a:extLst>
          </p:cNvPr>
          <p:cNvCxnSpPr>
            <a:cxnSpLocks/>
            <a:stCxn id="55" idx="3"/>
            <a:endCxn id="33" idx="1"/>
          </p:cNvCxnSpPr>
          <p:nvPr/>
        </p:nvCxnSpPr>
        <p:spPr>
          <a:xfrm>
            <a:off x="8001317" y="5036872"/>
            <a:ext cx="518629" cy="4280"/>
          </a:xfrm>
          <a:prstGeom prst="straightConnector1">
            <a:avLst/>
          </a:prstGeom>
          <a:ln w="38100" cap="rnd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5722D9D-23A1-498C-A2DD-F5D145294740}"/>
              </a:ext>
            </a:extLst>
          </p:cNvPr>
          <p:cNvSpPr/>
          <p:nvPr/>
        </p:nvSpPr>
        <p:spPr>
          <a:xfrm rot="16200000">
            <a:off x="834944" y="4832384"/>
            <a:ext cx="1343528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Conv2D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292C2C1-1C95-4652-B7BF-31CC8D4DA476}"/>
              </a:ext>
            </a:extLst>
          </p:cNvPr>
          <p:cNvSpPr/>
          <p:nvPr/>
        </p:nvSpPr>
        <p:spPr>
          <a:xfrm rot="16200000">
            <a:off x="1313344" y="4832384"/>
            <a:ext cx="1343528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AC83D64-D4E2-4618-9F9B-3A3F9C2709AC}"/>
              </a:ext>
            </a:extLst>
          </p:cNvPr>
          <p:cNvSpPr/>
          <p:nvPr/>
        </p:nvSpPr>
        <p:spPr>
          <a:xfrm rot="16200000">
            <a:off x="2867487" y="4832384"/>
            <a:ext cx="1343528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Conv2D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C32108E-2D57-4C6E-AF96-41E5622F9873}"/>
              </a:ext>
            </a:extLst>
          </p:cNvPr>
          <p:cNvSpPr/>
          <p:nvPr/>
        </p:nvSpPr>
        <p:spPr>
          <a:xfrm rot="16200000">
            <a:off x="3345887" y="4832384"/>
            <a:ext cx="1343528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FAB69F0-E19F-4142-8B71-A17ACC52FCBD}"/>
              </a:ext>
            </a:extLst>
          </p:cNvPr>
          <p:cNvSpPr/>
          <p:nvPr/>
        </p:nvSpPr>
        <p:spPr>
          <a:xfrm rot="16200000">
            <a:off x="4962838" y="4832384"/>
            <a:ext cx="1343530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7D5AD71-EFB9-41F4-BC46-280F37270E4C}"/>
              </a:ext>
            </a:extLst>
          </p:cNvPr>
          <p:cNvSpPr/>
          <p:nvPr/>
        </p:nvSpPr>
        <p:spPr>
          <a:xfrm rot="16200000">
            <a:off x="5441238" y="4832385"/>
            <a:ext cx="1343530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7C876DE-57C0-4F88-B858-5B27A2246BDC}"/>
              </a:ext>
            </a:extLst>
          </p:cNvPr>
          <p:cNvSpPr/>
          <p:nvPr/>
        </p:nvSpPr>
        <p:spPr>
          <a:xfrm rot="16200000">
            <a:off x="6979216" y="4832386"/>
            <a:ext cx="1343530" cy="408972"/>
          </a:xfrm>
          <a:prstGeom prst="roundRect">
            <a:avLst>
              <a:gd name="adj" fmla="val 41874"/>
            </a:avLst>
          </a:prstGeom>
          <a:solidFill>
            <a:schemeClr val="bg1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Softmax</a:t>
            </a:r>
            <a:endParaRPr lang="ko-KR" altLang="en-US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E141FAE-CC28-488F-99F6-D682761B8818}"/>
              </a:ext>
            </a:extLst>
          </p:cNvPr>
          <p:cNvSpPr/>
          <p:nvPr/>
        </p:nvSpPr>
        <p:spPr bwMode="auto">
          <a:xfrm>
            <a:off x="1119481" y="4171579"/>
            <a:ext cx="1237536" cy="1728189"/>
          </a:xfrm>
          <a:prstGeom prst="roundRect">
            <a:avLst/>
          </a:prstGeom>
          <a:noFill/>
          <a:ln w="508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BA64D7B-7E4C-4A6A-A45B-62A91F358C1C}"/>
              </a:ext>
            </a:extLst>
          </p:cNvPr>
          <p:cNvSpPr/>
          <p:nvPr/>
        </p:nvSpPr>
        <p:spPr bwMode="auto">
          <a:xfrm>
            <a:off x="3150522" y="4171517"/>
            <a:ext cx="1237536" cy="1728189"/>
          </a:xfrm>
          <a:prstGeom prst="roundRect">
            <a:avLst/>
          </a:prstGeom>
          <a:noFill/>
          <a:ln w="508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2A08954-3340-4F9E-82A9-6CD4E0A1AB78}"/>
              </a:ext>
            </a:extLst>
          </p:cNvPr>
          <p:cNvSpPr/>
          <p:nvPr/>
        </p:nvSpPr>
        <p:spPr bwMode="auto">
          <a:xfrm>
            <a:off x="5242526" y="4171455"/>
            <a:ext cx="1237536" cy="1728189"/>
          </a:xfrm>
          <a:prstGeom prst="roundRect">
            <a:avLst/>
          </a:prstGeom>
          <a:noFill/>
          <a:ln w="508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FB7F2968-16BB-46EC-B8A5-F8DC044F55EE}"/>
              </a:ext>
            </a:extLst>
          </p:cNvPr>
          <p:cNvSpPr/>
          <p:nvPr/>
        </p:nvSpPr>
        <p:spPr bwMode="auto">
          <a:xfrm>
            <a:off x="7300645" y="4172777"/>
            <a:ext cx="700672" cy="1728189"/>
          </a:xfrm>
          <a:prstGeom prst="roundRect">
            <a:avLst>
              <a:gd name="adj" fmla="val 24144"/>
            </a:avLst>
          </a:prstGeom>
          <a:noFill/>
          <a:ln w="508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9853A2-93BD-4E01-84C2-F3A480CBAA4E}"/>
              </a:ext>
            </a:extLst>
          </p:cNvPr>
          <p:cNvSpPr txBox="1"/>
          <p:nvPr/>
        </p:nvSpPr>
        <p:spPr>
          <a:xfrm>
            <a:off x="1214904" y="5930277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Layer 0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D25B3B-E5E1-4FD4-9AE1-5BDA457B7751}"/>
              </a:ext>
            </a:extLst>
          </p:cNvPr>
          <p:cNvSpPr txBox="1"/>
          <p:nvPr/>
        </p:nvSpPr>
        <p:spPr>
          <a:xfrm>
            <a:off x="3273000" y="593180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Layer 1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7FAF92-335A-4CAB-B5E3-6D0611C80D47}"/>
              </a:ext>
            </a:extLst>
          </p:cNvPr>
          <p:cNvSpPr txBox="1"/>
          <p:nvPr/>
        </p:nvSpPr>
        <p:spPr>
          <a:xfrm>
            <a:off x="5363650" y="594076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Layer 2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383329-E77A-4BC9-A9AE-1CEE62EE8D7C}"/>
              </a:ext>
            </a:extLst>
          </p:cNvPr>
          <p:cNvSpPr txBox="1"/>
          <p:nvPr/>
        </p:nvSpPr>
        <p:spPr>
          <a:xfrm>
            <a:off x="7154691" y="592987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Layer 3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62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Density Optimized Buffer (</a:t>
            </a:r>
            <a:r>
              <a:rPr lang="en-US" altLang="ja-JP" sz="4000" dirty="0" err="1">
                <a:ea typeface="Arial Unicode MS" pitchFamily="50" charset="-127"/>
                <a:cs typeface="Arial Unicode MS" pitchFamily="50" charset="-127"/>
              </a:rPr>
              <a:t>DoB</a:t>
            </a: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)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1800200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Capacity is highly related to the feature size of the cell</a:t>
            </a:r>
          </a:p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It is available to improve cell density by utilizing </a:t>
            </a:r>
            <a:r>
              <a:rPr lang="en-US" altLang="ja-JP" sz="2600" dirty="0">
                <a:solidFill>
                  <a:srgbClr val="FF0000"/>
                </a:solidFill>
                <a:ea typeface="Arial Unicode MS" pitchFamily="50" charset="-127"/>
                <a:cs typeface="Arial Unicode MS" pitchFamily="50" charset="-127"/>
              </a:rPr>
              <a:t>smaller access transistor</a:t>
            </a:r>
          </a:p>
          <a:p>
            <a:endParaRPr lang="en-US" altLang="ja-JP" sz="24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17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18199-1E4D-45B8-A299-909BFD2D771E}"/>
              </a:ext>
            </a:extLst>
          </p:cNvPr>
          <p:cNvSpPr txBox="1"/>
          <p:nvPr/>
        </p:nvSpPr>
        <p:spPr>
          <a:xfrm>
            <a:off x="1907704" y="3684314"/>
            <a:ext cx="53285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Is it possible to use smaller access transistor?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3D976674-56D3-43B0-B203-044D9B81F638}"/>
              </a:ext>
            </a:extLst>
          </p:cNvPr>
          <p:cNvSpPr/>
          <p:nvPr/>
        </p:nvSpPr>
        <p:spPr bwMode="auto">
          <a:xfrm rot="5400000">
            <a:off x="4262326" y="4930080"/>
            <a:ext cx="619348" cy="41094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81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932DB-74D9-42F6-8FEC-C4BD71FC3543}"/>
              </a:ext>
            </a:extLst>
          </p:cNvPr>
          <p:cNvSpPr txBox="1"/>
          <p:nvPr/>
        </p:nvSpPr>
        <p:spPr>
          <a:xfrm>
            <a:off x="593304" y="5589240"/>
            <a:ext cx="7957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Sacrifice the write latency of the cell</a:t>
            </a:r>
          </a:p>
        </p:txBody>
      </p:sp>
    </p:spTree>
    <p:extLst>
      <p:ext uri="{BB962C8B-B14F-4D97-AF65-F5344CB8AC3E}">
        <p14:creationId xmlns:p14="http://schemas.microsoft.com/office/powerpoint/2010/main" val="136740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Density Optimized Buffer (</a:t>
            </a:r>
            <a:r>
              <a:rPr lang="en-US" altLang="ja-JP" sz="4000" dirty="0" err="1">
                <a:ea typeface="Arial Unicode MS" pitchFamily="50" charset="-127"/>
                <a:cs typeface="Arial Unicode MS" pitchFamily="50" charset="-127"/>
              </a:rPr>
              <a:t>DoB</a:t>
            </a: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)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85800" y="1484784"/>
                <a:ext cx="7772400" cy="1584176"/>
              </a:xfrm>
            </p:spPr>
            <p:txBody>
              <a:bodyPr/>
              <a:lstStyle/>
              <a:p>
                <a:r>
                  <a:rPr lang="en-US" altLang="ja-JP" sz="2600" dirty="0">
                    <a:ea typeface="Arial Unicode MS" pitchFamily="50" charset="-127"/>
                    <a:cs typeface="Arial Unicode MS" pitchFamily="50" charset="-127"/>
                  </a:rPr>
                  <a:t>Size of access transistor determines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al Unicode MS" pitchFamily="50" charset="-127"/>
                            <a:cs typeface="Arial Unicode MS" pitchFamily="50" charset="-127"/>
                          </a:rPr>
                        </m:ctrlPr>
                      </m:sSubPr>
                      <m:e>
                        <m:r>
                          <a:rPr lang="en-US" altLang="ja-JP" sz="26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al Unicode MS" pitchFamily="50" charset="-127"/>
                            <a:cs typeface="Arial Unicode MS" pitchFamily="50" charset="-127"/>
                          </a:rPr>
                          <m:t>𝐈</m:t>
                        </m:r>
                      </m:e>
                      <m:sub>
                        <m:r>
                          <a:rPr lang="en-US" altLang="ja-JP" sz="26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al Unicode MS" pitchFamily="50" charset="-127"/>
                            <a:cs typeface="Arial Unicode MS" pitchFamily="50" charset="-127"/>
                          </a:rPr>
                          <m:t>𝐌𝐓𝐉</m:t>
                        </m:r>
                      </m:sub>
                    </m:sSub>
                  </m:oMath>
                </a14:m>
                <a:r>
                  <a:rPr lang="en-US" altLang="ja-JP" sz="260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,</a:t>
                </a:r>
                <a:r>
                  <a:rPr lang="en-US" altLang="ja-JP" sz="2600" dirty="0">
                    <a:ea typeface="Arial Unicode MS" pitchFamily="50" charset="-127"/>
                    <a:cs typeface="Arial Unicode MS" pitchFamily="50" charset="-127"/>
                  </a:rPr>
                  <a:t> </a:t>
                </a:r>
                <a:r>
                  <a:rPr lang="en-US" altLang="ja-JP" sz="2600" dirty="0">
                    <a:solidFill>
                      <a:srgbClr val="FF0000"/>
                    </a:solidFill>
                    <a:ea typeface="Arial Unicode MS" pitchFamily="50" charset="-127"/>
                    <a:cs typeface="Arial Unicode MS" pitchFamily="50" charset="-127"/>
                  </a:rPr>
                  <a:t>the current flowing through the MTJ</a:t>
                </a:r>
              </a:p>
              <a:p>
                <a:r>
                  <a:rPr lang="en-US" altLang="ja-JP" sz="2600" dirty="0">
                    <a:ea typeface="Arial Unicode MS" pitchFamily="50" charset="-127"/>
                    <a:cs typeface="Arial Unicode MS" pitchFamily="50" charset="-127"/>
                  </a:rPr>
                  <a:t>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i="1" dirty="0" smtClean="0">
                            <a:latin typeface="Cambria Math" panose="02040503050406030204" pitchFamily="18" charset="0"/>
                            <a:ea typeface="Arial Unicode MS" pitchFamily="50" charset="-127"/>
                            <a:cs typeface="Arial Unicode MS" pitchFamily="50" charset="-127"/>
                          </a:rPr>
                        </m:ctrlPr>
                      </m:sSubPr>
                      <m:e>
                        <m:r>
                          <a:rPr lang="en-US" altLang="ja-JP" sz="2600" b="1" i="0" dirty="0" smtClean="0">
                            <a:latin typeface="Cambria Math" panose="02040503050406030204" pitchFamily="18" charset="0"/>
                            <a:ea typeface="Arial Unicode MS" pitchFamily="50" charset="-127"/>
                            <a:cs typeface="Arial Unicode MS" pitchFamily="50" charset="-127"/>
                          </a:rPr>
                          <m:t>𝐈</m:t>
                        </m:r>
                      </m:e>
                      <m:sub>
                        <m:r>
                          <a:rPr lang="en-US" altLang="ja-JP" sz="2600" b="1" i="0" dirty="0" smtClean="0">
                            <a:latin typeface="Cambria Math" panose="02040503050406030204" pitchFamily="18" charset="0"/>
                            <a:ea typeface="Arial Unicode MS" pitchFamily="50" charset="-127"/>
                            <a:cs typeface="Arial Unicode MS" pitchFamily="50" charset="-127"/>
                          </a:rPr>
                          <m:t>𝐌𝐓𝐉</m:t>
                        </m:r>
                      </m:sub>
                    </m:sSub>
                  </m:oMath>
                </a14:m>
                <a:r>
                  <a:rPr lang="en-US" altLang="ja-JP" sz="2600" dirty="0">
                    <a:ea typeface="Arial Unicode MS" pitchFamily="50" charset="-127"/>
                    <a:cs typeface="Arial Unicode MS" pitchFamily="50" charset="-127"/>
                  </a:rPr>
                  <a:t> leads to the long write latency</a:t>
                </a:r>
              </a:p>
            </p:txBody>
          </p:sp>
        </mc:Choice>
        <mc:Fallback xmlns="">
          <p:sp>
            <p:nvSpPr>
              <p:cNvPr id="307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484784"/>
                <a:ext cx="7772400" cy="1584176"/>
              </a:xfrm>
              <a:blipFill>
                <a:blip r:embed="rId2"/>
                <a:stretch>
                  <a:fillRect l="-1255" t="-4247" r="-4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18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2DFA82-9C86-48F5-9398-98A518DA78CC}"/>
                  </a:ext>
                </a:extLst>
              </p:cNvPr>
              <p:cNvSpPr txBox="1"/>
              <p:nvPr/>
            </p:nvSpPr>
            <p:spPr>
              <a:xfrm>
                <a:off x="2502170" y="3212976"/>
                <a:ext cx="4139659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ko-K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altLang="ko-K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ko-KR" sz="2800" b="1" i="0" smtClean="0">
                          <a:latin typeface="Cambria Math" panose="02040503050406030204" pitchFamily="18" charset="0"/>
                        </a:rPr>
                        <m:t>𝐞𝐱𝐩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1" i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d>
                            <m:dPr>
                              <m:ctrlPr>
                                <a:rPr lang="en-US" altLang="ko-KR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28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28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8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r>
                                        <a:rPr lang="en-US" altLang="ko-KR" sz="2800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𝐌𝐓𝐉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800" b="1" i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r>
                                        <a:rPr lang="en-US" altLang="ko-KR" sz="2800" b="1" i="0" smtClean="0">
                                          <a:latin typeface="Cambria Math" panose="02040503050406030204" pitchFamily="18" charset="0"/>
                                        </a:rPr>
                                        <m:t>𝐜𝟎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62DFA82-9C86-48F5-9398-98A518DA7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170" y="3212976"/>
                <a:ext cx="4139659" cy="968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24D08F94-24BA-4B60-B1E0-BEE7A99F7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561147"/>
            <a:ext cx="7772400" cy="1499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ja-JP" sz="2600" kern="0" dirty="0">
                <a:ea typeface="Arial Unicode MS" pitchFamily="50" charset="-127"/>
                <a:cs typeface="Arial Unicode MS" pitchFamily="50" charset="-127"/>
              </a:rPr>
              <a:t>Write latency of the buffer does not matter for the weight data because the </a:t>
            </a:r>
            <a:r>
              <a:rPr lang="en-US" altLang="ja-JP" sz="2600" kern="0" dirty="0">
                <a:solidFill>
                  <a:srgbClr val="FF0000"/>
                </a:solidFill>
                <a:ea typeface="Arial Unicode MS" pitchFamily="50" charset="-127"/>
                <a:cs typeface="Arial Unicode MS" pitchFamily="50" charset="-127"/>
              </a:rPr>
              <a:t>weight buffer will maintain its data and not be updated</a:t>
            </a:r>
          </a:p>
          <a:p>
            <a:endParaRPr lang="en-US" altLang="ja-JP" sz="2400" kern="0" dirty="0"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949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Density Optimized Buffer (</a:t>
            </a:r>
            <a:r>
              <a:rPr lang="en-US" altLang="ja-JP" sz="4000" dirty="0" err="1">
                <a:ea typeface="Arial Unicode MS" pitchFamily="50" charset="-127"/>
                <a:cs typeface="Arial Unicode MS" pitchFamily="50" charset="-127"/>
              </a:rPr>
              <a:t>DoB</a:t>
            </a: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)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19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B9497D-F753-4B60-ACC1-7EA744E7DF5B}"/>
              </a:ext>
            </a:extLst>
          </p:cNvPr>
          <p:cNvSpPr txBox="1"/>
          <p:nvPr/>
        </p:nvSpPr>
        <p:spPr>
          <a:xfrm>
            <a:off x="593304" y="2564904"/>
            <a:ext cx="7957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Use smaller access transistor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31B39-E2DC-4432-920E-15097438B63B}"/>
              </a:ext>
            </a:extLst>
          </p:cNvPr>
          <p:cNvSpPr txBox="1"/>
          <p:nvPr/>
        </p:nvSpPr>
        <p:spPr>
          <a:xfrm>
            <a:off x="593304" y="1484784"/>
            <a:ext cx="7957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dirty="0">
                <a:ea typeface="Arial Unicode MS" pitchFamily="50" charset="-127"/>
                <a:cs typeface="Arial Unicode MS" pitchFamily="50" charset="-127"/>
              </a:rPr>
              <a:t>How to decrease the cell size?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D6A87F28-37B3-4A2A-85B1-D8AA648A3257}"/>
              </a:ext>
            </a:extLst>
          </p:cNvPr>
          <p:cNvSpPr/>
          <p:nvPr/>
        </p:nvSpPr>
        <p:spPr bwMode="auto">
          <a:xfrm rot="5400000">
            <a:off x="4356983" y="2109938"/>
            <a:ext cx="430034" cy="410940"/>
          </a:xfrm>
          <a:prstGeom prst="rightArrow">
            <a:avLst/>
          </a:prstGeom>
          <a:solidFill>
            <a:schemeClr val="bg2">
              <a:lumMod val="60000"/>
              <a:lumOff val="40000"/>
            </a:schemeClr>
          </a:solidFill>
          <a:ln w="381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1D118A9F-D1D2-4984-B9F8-C47507A52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285" y="3645024"/>
            <a:ext cx="7632848" cy="289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7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3212976"/>
            <a:ext cx="7772400" cy="1368152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ja-JP" sz="4800" dirty="0">
                <a:ea typeface="Arial Unicode MS" pitchFamily="50" charset="-127"/>
                <a:cs typeface="Arial Unicode MS" pitchFamily="50" charset="-127"/>
              </a:rPr>
              <a:t>Evaluation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20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058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Methodology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484784"/>
            <a:ext cx="8640960" cy="4834012"/>
          </a:xfrm>
        </p:spPr>
        <p:txBody>
          <a:bodyPr/>
          <a:lstStyle/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Simulator</a:t>
            </a:r>
          </a:p>
          <a:p>
            <a:pPr lvl="1"/>
            <a:r>
              <a:rPr lang="en-US" altLang="ja-JP" sz="2200" dirty="0">
                <a:ea typeface="Arial Unicode MS" pitchFamily="50" charset="-127"/>
                <a:cs typeface="Arial Unicode MS" pitchFamily="50" charset="-127"/>
              </a:rPr>
              <a:t>SCALE-Sim: cycle-accurate simulator for Systolic Array</a:t>
            </a:r>
          </a:p>
          <a:p>
            <a:pPr lvl="1"/>
            <a:r>
              <a:rPr lang="en-US" altLang="ja-JP" sz="2200" dirty="0">
                <a:ea typeface="Arial Unicode MS" pitchFamily="50" charset="-127"/>
                <a:cs typeface="Arial Unicode MS" pitchFamily="50" charset="-127"/>
              </a:rPr>
              <a:t>Extend the simulator to reflect the physical characteristics of the STT-MRAM cells</a:t>
            </a:r>
          </a:p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Memory Configurations</a:t>
            </a:r>
          </a:p>
          <a:p>
            <a:pPr lvl="1"/>
            <a:r>
              <a:rPr lang="en-US" altLang="ja-JP" sz="2200" dirty="0">
                <a:ea typeface="Arial Unicode MS" pitchFamily="50" charset="-127"/>
                <a:cs typeface="Arial Unicode MS" pitchFamily="50" charset="-127"/>
              </a:rPr>
              <a:t>Unified Buffer: 1MB SRAM (4MB with STT-MRAM cells)</a:t>
            </a:r>
          </a:p>
          <a:p>
            <a:pPr lvl="1"/>
            <a:r>
              <a:rPr lang="en-US" altLang="ja-JP" sz="2200" dirty="0">
                <a:ea typeface="Arial Unicode MS" pitchFamily="50" charset="-127"/>
                <a:cs typeface="Arial Unicode MS" pitchFamily="50" charset="-127"/>
              </a:rPr>
              <a:t>Weight Buffer: 4MB SRAM (16MB with STT-MRAM cells)</a:t>
            </a:r>
          </a:p>
          <a:p>
            <a:r>
              <a:rPr lang="en-US" altLang="ja-JP" sz="2600" dirty="0">
                <a:ea typeface="Arial Unicode MS" pitchFamily="50" charset="-127"/>
                <a:cs typeface="Arial Unicode MS" pitchFamily="50" charset="-127"/>
              </a:rPr>
              <a:t>STT-MRAM Cell Configurations</a:t>
            </a:r>
          </a:p>
          <a:p>
            <a:pPr lvl="1"/>
            <a:r>
              <a:rPr lang="en-US" altLang="ja-JP" sz="2000" dirty="0">
                <a:ea typeface="Arial Unicode MS" pitchFamily="50" charset="-127"/>
                <a:cs typeface="Arial Unicode MS" pitchFamily="50" charset="-127"/>
              </a:rPr>
              <a:t>Baseline: 10 years of retention time at 350K temperature</a:t>
            </a:r>
          </a:p>
          <a:p>
            <a:pPr lvl="1"/>
            <a:r>
              <a:rPr lang="en-US" altLang="ja-JP" sz="2000" dirty="0">
                <a:ea typeface="Arial Unicode MS" pitchFamily="50" charset="-127"/>
                <a:cs typeface="Arial Unicode MS" pitchFamily="50" charset="-127"/>
              </a:rPr>
              <a:t>WoB1: 1sec of retention time</a:t>
            </a:r>
          </a:p>
          <a:p>
            <a:pPr lvl="1"/>
            <a:r>
              <a:rPr lang="en-US" altLang="ja-JP" sz="2000" dirty="0">
                <a:ea typeface="Arial Unicode MS" pitchFamily="50" charset="-127"/>
                <a:cs typeface="Arial Unicode MS" pitchFamily="50" charset="-127"/>
              </a:rPr>
              <a:t>WoB2: 2ms of retention time</a:t>
            </a:r>
          </a:p>
          <a:p>
            <a:pPr lvl="1"/>
            <a:r>
              <a:rPr lang="en-US" altLang="ja-JP" sz="2000" dirty="0" err="1">
                <a:ea typeface="Arial Unicode MS" pitchFamily="50" charset="-127"/>
                <a:cs typeface="Arial Unicode MS" pitchFamily="50" charset="-127"/>
              </a:rPr>
              <a:t>DoB</a:t>
            </a:r>
            <a:r>
              <a:rPr lang="en-US" altLang="ja-JP" sz="2000" dirty="0">
                <a:ea typeface="Arial Unicode MS" pitchFamily="50" charset="-127"/>
                <a:cs typeface="Arial Unicode MS" pitchFamily="50" charset="-127"/>
              </a:rPr>
              <a:t>: 0.75x smaller access transistor than </a:t>
            </a:r>
            <a:r>
              <a:rPr lang="en-US" altLang="ja-JP" sz="2000">
                <a:ea typeface="Arial Unicode MS" pitchFamily="50" charset="-127"/>
                <a:cs typeface="Arial Unicode MS" pitchFamily="50" charset="-127"/>
              </a:rPr>
              <a:t>the baseline</a:t>
            </a:r>
            <a:endParaRPr lang="en-US" altLang="ja-JP" sz="2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21</a:t>
            </a:fld>
            <a:endParaRPr lang="en-US" altLang="ja-JP" dirty="0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66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Performance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1008112"/>
          </a:xfrm>
        </p:spPr>
        <p:txBody>
          <a:bodyPr/>
          <a:lstStyle/>
          <a:p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WoB1 + </a:t>
            </a:r>
            <a:r>
              <a:rPr lang="en-US" altLang="ja-JP" sz="2400" dirty="0" err="1">
                <a:ea typeface="Arial Unicode MS" pitchFamily="50" charset="-127"/>
                <a:cs typeface="Arial Unicode MS" pitchFamily="50" charset="-127"/>
              </a:rPr>
              <a:t>DoB</a:t>
            </a:r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 is 1.98x faster than SRAM</a:t>
            </a:r>
          </a:p>
          <a:p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WoB2 + </a:t>
            </a:r>
            <a:r>
              <a:rPr lang="en-US" altLang="ja-JP" sz="2400" dirty="0" err="1">
                <a:ea typeface="Arial Unicode MS" pitchFamily="50" charset="-127"/>
                <a:cs typeface="Arial Unicode MS" pitchFamily="50" charset="-127"/>
              </a:rPr>
              <a:t>DoB</a:t>
            </a:r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 is 2.43x faster than SRAM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22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E4707B-73BD-40D4-8235-DFFE084D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140968"/>
            <a:ext cx="6768752" cy="274953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D3750D1-AAAD-4544-9943-57E6014C6A3F}"/>
              </a:ext>
            </a:extLst>
          </p:cNvPr>
          <p:cNvSpPr/>
          <p:nvPr/>
        </p:nvSpPr>
        <p:spPr bwMode="auto">
          <a:xfrm>
            <a:off x="7191128" y="4496103"/>
            <a:ext cx="864096" cy="648072"/>
          </a:xfrm>
          <a:prstGeom prst="rect">
            <a:avLst/>
          </a:prstGeom>
          <a:solidFill>
            <a:schemeClr val="bg2">
              <a:lumMod val="60000"/>
              <a:lumOff val="40000"/>
              <a:alpha val="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cxnSp>
        <p:nvCxnSpPr>
          <p:cNvPr id="4" name="연결선: 구부러짐 3">
            <a:extLst>
              <a:ext uri="{FF2B5EF4-FFF2-40B4-BE49-F238E27FC236}">
                <a16:creationId xmlns:a16="http://schemas.microsoft.com/office/drawing/2014/main" id="{AFA39B12-5D5F-4AA7-A4F5-3A85A771BDF4}"/>
              </a:ext>
            </a:extLst>
          </p:cNvPr>
          <p:cNvCxnSpPr>
            <a:stCxn id="10" idx="3"/>
            <a:endCxn id="2" idx="0"/>
          </p:cNvCxnSpPr>
          <p:nvPr/>
        </p:nvCxnSpPr>
        <p:spPr bwMode="auto">
          <a:xfrm>
            <a:off x="6876256" y="1707633"/>
            <a:ext cx="746920" cy="2788470"/>
          </a:xfrm>
          <a:prstGeom prst="curvedConnector2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575AFB-7B6F-46A1-B8EB-79668951DD8A}"/>
              </a:ext>
            </a:extLst>
          </p:cNvPr>
          <p:cNvSpPr/>
          <p:nvPr/>
        </p:nvSpPr>
        <p:spPr bwMode="auto">
          <a:xfrm>
            <a:off x="6012160" y="1383597"/>
            <a:ext cx="864096" cy="648072"/>
          </a:xfrm>
          <a:prstGeom prst="rect">
            <a:avLst/>
          </a:prstGeom>
          <a:solidFill>
            <a:schemeClr val="bg2">
              <a:lumMod val="60000"/>
              <a:lumOff val="40000"/>
              <a:alpha val="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E686D9-356F-4969-8030-96A80FA1803A}"/>
              </a:ext>
            </a:extLst>
          </p:cNvPr>
          <p:cNvSpPr/>
          <p:nvPr/>
        </p:nvSpPr>
        <p:spPr bwMode="auto">
          <a:xfrm>
            <a:off x="7020272" y="4682948"/>
            <a:ext cx="864096" cy="648072"/>
          </a:xfrm>
          <a:prstGeom prst="rect">
            <a:avLst/>
          </a:prstGeom>
          <a:solidFill>
            <a:schemeClr val="bg2">
              <a:lumMod val="60000"/>
              <a:lumOff val="40000"/>
              <a:alpha val="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B7B70FF7-FA8C-454D-BA30-A782DD298C80}"/>
              </a:ext>
            </a:extLst>
          </p:cNvPr>
          <p:cNvCxnSpPr>
            <a:stCxn id="15" idx="3"/>
            <a:endCxn id="13" idx="0"/>
          </p:cNvCxnSpPr>
          <p:nvPr/>
        </p:nvCxnSpPr>
        <p:spPr bwMode="auto">
          <a:xfrm>
            <a:off x="6876256" y="2168860"/>
            <a:ext cx="576064" cy="2514088"/>
          </a:xfrm>
          <a:prstGeom prst="curvedConnector2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5D8FDEF-A978-4D65-A8BC-6CA0F51F4E74}"/>
              </a:ext>
            </a:extLst>
          </p:cNvPr>
          <p:cNvSpPr/>
          <p:nvPr/>
        </p:nvSpPr>
        <p:spPr bwMode="auto">
          <a:xfrm>
            <a:off x="6012160" y="1844824"/>
            <a:ext cx="864096" cy="648072"/>
          </a:xfrm>
          <a:prstGeom prst="rect">
            <a:avLst/>
          </a:prstGeom>
          <a:solidFill>
            <a:schemeClr val="bg2">
              <a:lumMod val="60000"/>
              <a:lumOff val="40000"/>
              <a:alpha val="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65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4000" dirty="0">
                <a:ea typeface="Arial Unicode MS" pitchFamily="50" charset="-127"/>
                <a:cs typeface="Arial Unicode MS" pitchFamily="50" charset="-127"/>
              </a:rPr>
              <a:t>Energy Consumption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784"/>
            <a:ext cx="7772400" cy="1872208"/>
          </a:xfrm>
        </p:spPr>
        <p:txBody>
          <a:bodyPr/>
          <a:lstStyle/>
          <a:p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STT-MRAM buffers consumes energy only about 42%~67% of the SRAM</a:t>
            </a:r>
          </a:p>
          <a:p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Leakage energy significantly decreases while read and write energy slightly increases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23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959137-0C3B-453D-BF64-29C63FB9F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969" y="3168709"/>
            <a:ext cx="5676061" cy="3168774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C295DDE9-4205-4999-8FC0-B3A19ABD9FA7}"/>
              </a:ext>
            </a:extLst>
          </p:cNvPr>
          <p:cNvSpPr/>
          <p:nvPr/>
        </p:nvSpPr>
        <p:spPr bwMode="auto">
          <a:xfrm>
            <a:off x="6876256" y="4465064"/>
            <a:ext cx="432048" cy="288032"/>
          </a:xfrm>
          <a:prstGeom prst="ellipse">
            <a:avLst/>
          </a:prstGeom>
          <a:solidFill>
            <a:schemeClr val="bg1">
              <a:lumMod val="75000"/>
              <a:alpha val="0"/>
            </a:schemeClr>
          </a:solidFill>
          <a:ln w="38100"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D728015-1C4A-4F3A-8015-B46064FC11C2}"/>
              </a:ext>
            </a:extLst>
          </p:cNvPr>
          <p:cNvSpPr/>
          <p:nvPr/>
        </p:nvSpPr>
        <p:spPr bwMode="auto">
          <a:xfrm>
            <a:off x="6528915" y="3705057"/>
            <a:ext cx="360040" cy="1323780"/>
          </a:xfrm>
          <a:prstGeom prst="ellipse">
            <a:avLst/>
          </a:prstGeom>
          <a:solidFill>
            <a:schemeClr val="bg1">
              <a:lumMod val="75000"/>
              <a:alpha val="0"/>
            </a:schemeClr>
          </a:solidFill>
          <a:ln w="38100"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38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3212976"/>
            <a:ext cx="7772400" cy="1368152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ja-JP" sz="4800" dirty="0">
                <a:ea typeface="Arial Unicode MS" pitchFamily="50" charset="-127"/>
                <a:cs typeface="Arial Unicode MS" pitchFamily="50" charset="-127"/>
              </a:rPr>
              <a:t>Conclusion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24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31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ea typeface="Arial Unicode MS" pitchFamily="50" charset="-127"/>
                <a:cs typeface="Arial Unicode MS" pitchFamily="50" charset="-127"/>
              </a:rPr>
              <a:t>Conclusion</a:t>
            </a:r>
            <a:endParaRPr lang="en-US" altLang="ko-KR" sz="4000" dirty="0"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484784"/>
            <a:ext cx="8496944" cy="4752528"/>
          </a:xfrm>
        </p:spPr>
        <p:txBody>
          <a:bodyPr/>
          <a:lstStyle/>
          <a:p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STT-MRAM based on-chip buffer is more efficient than conventional SRAM based buffer</a:t>
            </a:r>
          </a:p>
          <a:p>
            <a:endParaRPr lang="en-US" altLang="ja-JP" sz="2400" dirty="0">
              <a:ea typeface="Arial Unicode MS" pitchFamily="50" charset="-127"/>
              <a:cs typeface="Arial Unicode MS" pitchFamily="50" charset="-127"/>
            </a:endParaRPr>
          </a:p>
          <a:p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Write Optimized Buffer (</a:t>
            </a:r>
            <a:r>
              <a:rPr lang="en-US" altLang="ja-JP" sz="2400" dirty="0" err="1">
                <a:ea typeface="Arial Unicode MS" pitchFamily="50" charset="-127"/>
                <a:cs typeface="Arial Unicode MS" pitchFamily="50" charset="-127"/>
              </a:rPr>
              <a:t>WoB</a:t>
            </a:r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)</a:t>
            </a:r>
            <a:br>
              <a:rPr lang="en-US" altLang="ja-JP" sz="2400" dirty="0">
                <a:ea typeface="Arial Unicode MS" pitchFamily="50" charset="-127"/>
                <a:cs typeface="Arial Unicode MS" pitchFamily="50" charset="-127"/>
              </a:rPr>
            </a:br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Reduce the volume of the free layer</a:t>
            </a:r>
          </a:p>
          <a:p>
            <a:endParaRPr lang="en-US" altLang="ja-JP" sz="2400" dirty="0">
              <a:ea typeface="Arial Unicode MS" pitchFamily="50" charset="-127"/>
              <a:cs typeface="Arial Unicode MS" pitchFamily="50" charset="-127"/>
            </a:endParaRPr>
          </a:p>
          <a:p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Density Optimized Buffer (</a:t>
            </a:r>
            <a:r>
              <a:rPr lang="en-US" altLang="ja-JP" sz="2400" dirty="0" err="1">
                <a:ea typeface="Arial Unicode MS" pitchFamily="50" charset="-127"/>
                <a:cs typeface="Arial Unicode MS" pitchFamily="50" charset="-127"/>
              </a:rPr>
              <a:t>DoB</a:t>
            </a:r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)</a:t>
            </a:r>
            <a:br>
              <a:rPr lang="en-US" altLang="ja-JP" sz="2400" dirty="0">
                <a:ea typeface="Arial Unicode MS" pitchFamily="50" charset="-127"/>
                <a:cs typeface="Arial Unicode MS" pitchFamily="50" charset="-127"/>
              </a:rPr>
            </a:br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Reduce the size of the access transistor</a:t>
            </a:r>
          </a:p>
          <a:p>
            <a:endParaRPr lang="en-US" altLang="ja-JP" sz="2400" dirty="0">
              <a:ea typeface="Arial Unicode MS" pitchFamily="50" charset="-127"/>
              <a:cs typeface="Arial Unicode MS" pitchFamily="50" charset="-127"/>
            </a:endParaRPr>
          </a:p>
          <a:p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About 2.43x better performance than the baseline</a:t>
            </a:r>
          </a:p>
          <a:p>
            <a:r>
              <a:rPr lang="en-US" altLang="ja-JP" sz="2400" dirty="0">
                <a:ea typeface="Arial Unicode MS" pitchFamily="50" charset="-127"/>
                <a:cs typeface="Arial Unicode MS" pitchFamily="50" charset="-127"/>
              </a:rPr>
              <a:t>About 55% less energy consumption than the baseline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25</a:t>
            </a:fld>
            <a:endParaRPr lang="en-US" altLang="ja-JP" dirty="0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066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3212976"/>
            <a:ext cx="7772400" cy="1368152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ja-JP" sz="4800" dirty="0">
                <a:ea typeface="Arial Unicode MS" pitchFamily="50" charset="-127"/>
                <a:cs typeface="Arial Unicode MS" pitchFamily="50" charset="-127"/>
              </a:rPr>
              <a:t>Thank You!</a:t>
            </a:r>
          </a:p>
        </p:txBody>
      </p:sp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07F8066-4AD5-4EA1-A989-8417299FA949}" type="slidenum">
              <a:rPr lang="ja-JP" altLang="en-US" smtClean="0">
                <a:latin typeface="Arial" pitchFamily="34" charset="0"/>
                <a:ea typeface="Arial Unicode MS" pitchFamily="50" charset="-127"/>
                <a:cs typeface="Arial Unicode MS" pitchFamily="50" charset="-127"/>
              </a:rPr>
              <a:pPr/>
              <a:t>26</a:t>
            </a:fld>
            <a:endParaRPr lang="en-US" altLang="ja-JP">
              <a:latin typeface="Arial" pitchFamily="34" charset="0"/>
              <a:ea typeface="Arial Unicode MS" pitchFamily="50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907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7"/>
    </mc:Choice>
    <mc:Fallback xmlns="">
      <p:transition spd="slow" advTm="2237"/>
    </mc:Fallback>
  </mc:AlternateContent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9900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CAAA"/>
      </a:accent5>
      <a:accent6>
        <a:srgbClr val="0000E7"/>
      </a:accent6>
      <a:hlink>
        <a:srgbClr val="FF00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F6870F5E93BC1468AA080BB55923333" ma:contentTypeVersion="18" ma:contentTypeDescription="새 문서를 만듭니다." ma:contentTypeScope="" ma:versionID="c538e2512606784c4b9a27c2c9041913">
  <xsd:schema xmlns:xsd="http://www.w3.org/2001/XMLSchema" xmlns:xs="http://www.w3.org/2001/XMLSchema" xmlns:p="http://schemas.microsoft.com/office/2006/metadata/properties" xmlns:ns2="3c96cb94-7bc3-41c6-b31a-f10544290a4a" xmlns:ns3="7e15a1a3-9707-43e7-9997-5a02e113e2ba" targetNamespace="http://schemas.microsoft.com/office/2006/metadata/properties" ma:root="true" ma:fieldsID="0395fc8a7c825a3af3687b84be04dab7" ns2:_="" ns3:_="">
    <xsd:import namespace="3c96cb94-7bc3-41c6-b31a-f10544290a4a"/>
    <xsd:import namespace="7e15a1a3-9707-43e7-9997-5a02e113e2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6cb94-7bc3-41c6-b31a-f10544290a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이미지 태그" ma:readOnly="false" ma:fieldId="{5cf76f15-5ced-4ddc-b409-7134ff3c332f}" ma:taxonomyMulti="true" ma:sspId="13f7c4bd-ffc2-489d-bd41-78771032fe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15a1a3-9707-43e7-9997-5a02e113e2ba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f842c2d8-cd9d-4afd-a254-00003754f672}" ma:internalName="TaxCatchAll" ma:showField="CatchAllData" ma:web="7e15a1a3-9707-43e7-9997-5a02e113e2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e15a1a3-9707-43e7-9997-5a02e113e2ba" xsi:nil="true"/>
    <lcf76f155ced4ddcb4097134ff3c332f xmlns="3c96cb94-7bc3-41c6-b31a-f10544290a4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5F25093-C089-42B8-B00E-1B16FF1C7F39}"/>
</file>

<file path=customXml/itemProps2.xml><?xml version="1.0" encoding="utf-8"?>
<ds:datastoreItem xmlns:ds="http://schemas.openxmlformats.org/officeDocument/2006/customXml" ds:itemID="{2C73B093-8B2B-4C32-9D5E-14AB111EC3BB}"/>
</file>

<file path=customXml/itemProps3.xml><?xml version="1.0" encoding="utf-8"?>
<ds:datastoreItem xmlns:ds="http://schemas.openxmlformats.org/officeDocument/2006/customXml" ds:itemID="{0404B4E2-28D2-490A-8205-154CF6FA79C0}"/>
</file>

<file path=docProps/app.xml><?xml version="1.0" encoding="utf-8"?>
<Properties xmlns="http://schemas.openxmlformats.org/officeDocument/2006/extended-properties" xmlns:vt="http://schemas.openxmlformats.org/officeDocument/2006/docPropsVTypes">
  <TotalTime>4048</TotalTime>
  <Words>925</Words>
  <Application>Microsoft Office PowerPoint</Application>
  <PresentationFormat>Letter 용지(8.5x11in)</PresentationFormat>
  <Paragraphs>213</Paragraphs>
  <Slides>26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Arial</vt:lpstr>
      <vt:lpstr>Cambria Math</vt:lpstr>
      <vt:lpstr>Times New Roman</vt:lpstr>
      <vt:lpstr>Default Design</vt:lpstr>
      <vt:lpstr>Improving Performance and Energy-efficiency of DNN Accelerators with STT-RAM Buffers</vt:lpstr>
      <vt:lpstr>Outline</vt:lpstr>
      <vt:lpstr>PowerPoint 프레젠테이션</vt:lpstr>
      <vt:lpstr>Limitations of SRAM</vt:lpstr>
      <vt:lpstr>On-chip Buffer</vt:lpstr>
      <vt:lpstr>STT-MRAM Cell</vt:lpstr>
      <vt:lpstr>STT-MRAM Cell</vt:lpstr>
      <vt:lpstr>PowerPoint 프레젠테이션</vt:lpstr>
      <vt:lpstr>Constructing STT-MRAM Buffers</vt:lpstr>
      <vt:lpstr>Activation Buffer</vt:lpstr>
      <vt:lpstr>Lifetime of Activation Data</vt:lpstr>
      <vt:lpstr>Write Optimized Buffer (WoB)</vt:lpstr>
      <vt:lpstr>Write Optimized Buffer (WoB)</vt:lpstr>
      <vt:lpstr>Write Optimized Buffer (WoB)</vt:lpstr>
      <vt:lpstr>Write Optimized Buffer (WoB)</vt:lpstr>
      <vt:lpstr>Weight Buffer</vt:lpstr>
      <vt:lpstr>Density Optimized Buffer (DoB)</vt:lpstr>
      <vt:lpstr>Density Optimized Buffer (DoB)</vt:lpstr>
      <vt:lpstr>Density Optimized Buffer (DoB)</vt:lpstr>
      <vt:lpstr>PowerPoint 프레젠테이션</vt:lpstr>
      <vt:lpstr>Methodology</vt:lpstr>
      <vt:lpstr>Performance</vt:lpstr>
      <vt:lpstr>Energy Consumption</vt:lpstr>
      <vt:lpstr>PowerPoint 프레젠테이션</vt:lpstr>
      <vt:lpstr>Conclusion</vt:lpstr>
      <vt:lpstr>PowerPoint 프레젠테이션</vt:lpstr>
    </vt:vector>
  </TitlesOfParts>
  <Company>A-SSCC 2005 TPC chair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preparation</dc:title>
  <dc:creator>Takayasu Sakurai</dc:creator>
  <cp:lastModifiedBy>김성욱</cp:lastModifiedBy>
  <cp:revision>549</cp:revision>
  <cp:lastPrinted>2000-02-16T19:06:58Z</cp:lastPrinted>
  <dcterms:created xsi:type="dcterms:W3CDTF">1999-04-05T18:00:54Z</dcterms:created>
  <dcterms:modified xsi:type="dcterms:W3CDTF">2023-10-23T14:52:04Z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0x010100AF6870F5E93BC1468AA080BB55923333</vt:lpwstr>
  </property>
</Properties>
</file>